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473ECB-B02D-42AE-9B6A-C61CA34E071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7147DAB-6BA5-428A-A9E6-DFE6FA34A8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5CAD3C9-F723-4766-BDB7-B35E64DB7933}"/>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5" name="Espace réservé du pied de page 4">
            <a:extLst>
              <a:ext uri="{FF2B5EF4-FFF2-40B4-BE49-F238E27FC236}">
                <a16:creationId xmlns:a16="http://schemas.microsoft.com/office/drawing/2014/main" id="{06D53A48-05CF-4BE9-9A2C-0AABA681CD9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ACEC256-B07D-4E44-86B8-7520F8D7BF25}"/>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2136685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A2D7DC-C99D-44E0-8C77-7B19404F1FC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4D77DF3-3F77-4E76-A2C4-7D7EFA48EA5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2BE2083-FC48-48E4-82AF-FAAEE64BEEF1}"/>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5" name="Espace réservé du pied de page 4">
            <a:extLst>
              <a:ext uri="{FF2B5EF4-FFF2-40B4-BE49-F238E27FC236}">
                <a16:creationId xmlns:a16="http://schemas.microsoft.com/office/drawing/2014/main" id="{84925C3D-AF3A-48B9-93C5-8F79FE6CAA9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76ED383-A6D3-4CAE-97C6-2338367D4D28}"/>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2744534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CAEFF5-E1FD-4B9C-BEAC-D824AA47DE4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0E041ED-AA56-4A02-A205-6F238D6478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9F5D5EA-251C-4FAD-9813-BFADE7FBB1AA}"/>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5" name="Espace réservé du pied de page 4">
            <a:extLst>
              <a:ext uri="{FF2B5EF4-FFF2-40B4-BE49-F238E27FC236}">
                <a16:creationId xmlns:a16="http://schemas.microsoft.com/office/drawing/2014/main" id="{66C0AFA4-5470-4E32-9B57-EAD91349F3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38027D5-0600-410B-8BB8-C86BE856A679}"/>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2170491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02FB33-5FDD-4EA8-930E-26132E18E5C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EEC22D-C249-444D-86E2-8797993E539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5FE1900-4DA1-4A20-96B8-534DBE1114B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C2B59F2-AE5C-46C1-8C8B-F8F1E8DD2D0D}"/>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6" name="Espace réservé du pied de page 5">
            <a:extLst>
              <a:ext uri="{FF2B5EF4-FFF2-40B4-BE49-F238E27FC236}">
                <a16:creationId xmlns:a16="http://schemas.microsoft.com/office/drawing/2014/main" id="{813023D6-6013-41B7-B902-77983FE9970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2E48BFE-5660-4D09-96FB-9B3FF0FAF8B1}"/>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468162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E720C0-2F31-4C89-87BC-6EACACB112D0}"/>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832DDF8-0B50-4ABE-AD6D-AAB45A68D5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6A76211-CEB5-4DA8-8079-23FEFEC82B5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F112258-1682-4238-BC97-2D416ADF4A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1BD9F07-82FE-48C7-8292-E00EFA65406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09499AF-B776-49A4-90CB-98D3A0DAB936}"/>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8" name="Espace réservé du pied de page 7">
            <a:extLst>
              <a:ext uri="{FF2B5EF4-FFF2-40B4-BE49-F238E27FC236}">
                <a16:creationId xmlns:a16="http://schemas.microsoft.com/office/drawing/2014/main" id="{6835DED4-2A2A-4BB9-88D8-3103397DAAE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12B0389-3CEC-4C17-9638-5BFC741227EF}"/>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1608204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DA87B0-03F9-49D7-BCB7-4F4BCAAB189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7C29803-00D4-4D62-851E-613FB77F60A6}"/>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4" name="Espace réservé du pied de page 3">
            <a:extLst>
              <a:ext uri="{FF2B5EF4-FFF2-40B4-BE49-F238E27FC236}">
                <a16:creationId xmlns:a16="http://schemas.microsoft.com/office/drawing/2014/main" id="{3D0CD392-B6E1-4C10-B233-8DBBC7DB16AC}"/>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EB616DA-EBFE-4D79-929A-7CB99F425AC4}"/>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3999790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2578B09-DDCF-4807-A230-B2DD5EEBB6E0}"/>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3" name="Espace réservé du pied de page 2">
            <a:extLst>
              <a:ext uri="{FF2B5EF4-FFF2-40B4-BE49-F238E27FC236}">
                <a16:creationId xmlns:a16="http://schemas.microsoft.com/office/drawing/2014/main" id="{C6E0B715-F3C2-4B39-94F2-C6AD03A61C91}"/>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39F1E04-4DFA-4D88-B8C9-6097F67E84D3}"/>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333744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731D5A-18BB-4041-BE90-14589299B44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5E348F8-9846-494B-91DF-8C43B64CCD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348E8F4-028F-408D-BD59-ACC46BFCE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BB77F6B-62F8-4950-A12C-96673E5025CE}"/>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6" name="Espace réservé du pied de page 5">
            <a:extLst>
              <a:ext uri="{FF2B5EF4-FFF2-40B4-BE49-F238E27FC236}">
                <a16:creationId xmlns:a16="http://schemas.microsoft.com/office/drawing/2014/main" id="{AF32400D-F648-44F0-853B-9038BE7E90D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76BEC03-200D-4192-8C19-EA351CE9D975}"/>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517886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21BED5-0236-4316-AB51-FE2E09FF9D9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09BC489-E164-4BFE-97F5-4D5EECE458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9E0D4AF2-6096-4B60-99B4-05ED576AE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B44667A-50D1-43BC-8E69-BC96448D423B}"/>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6" name="Espace réservé du pied de page 5">
            <a:extLst>
              <a:ext uri="{FF2B5EF4-FFF2-40B4-BE49-F238E27FC236}">
                <a16:creationId xmlns:a16="http://schemas.microsoft.com/office/drawing/2014/main" id="{136D8540-7213-4EB7-94F5-2C499E526FC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FACF21E-0CAA-4C7B-A21D-035A06B23347}"/>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108058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7B121D-40B5-4AB9-BDAA-B502472A5067}"/>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861FB59-66F6-4F7D-8359-56C81871EF7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10F361-52BA-45A7-A03C-5198E9FD9157}"/>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5" name="Espace réservé du pied de page 4">
            <a:extLst>
              <a:ext uri="{FF2B5EF4-FFF2-40B4-BE49-F238E27FC236}">
                <a16:creationId xmlns:a16="http://schemas.microsoft.com/office/drawing/2014/main" id="{40E64814-DE0F-4E05-99E0-B025F69E13E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A1DDB27-1FEA-498A-8F12-AADEF146A5AF}"/>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1463073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3513F09-5AE9-484D-AA0B-4C3E6D704E3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74CE406-58BE-4261-A11B-AC23E01CB62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BD4EF5E-2173-4036-8D41-6FAE3AEFCE5F}"/>
              </a:ext>
            </a:extLst>
          </p:cNvPr>
          <p:cNvSpPr>
            <a:spLocks noGrp="1"/>
          </p:cNvSpPr>
          <p:nvPr>
            <p:ph type="dt" sz="half" idx="10"/>
          </p:nvPr>
        </p:nvSpPr>
        <p:spPr/>
        <p:txBody>
          <a:bodyPr/>
          <a:lstStyle/>
          <a:p>
            <a:fld id="{E022DCEA-DD36-42D8-BA73-4E49D89A205E}" type="datetimeFigureOut">
              <a:rPr lang="fr-FR" smtClean="0"/>
              <a:t>28/02/2026</a:t>
            </a:fld>
            <a:endParaRPr lang="fr-FR"/>
          </a:p>
        </p:txBody>
      </p:sp>
      <p:sp>
        <p:nvSpPr>
          <p:cNvPr id="5" name="Espace réservé du pied de page 4">
            <a:extLst>
              <a:ext uri="{FF2B5EF4-FFF2-40B4-BE49-F238E27FC236}">
                <a16:creationId xmlns:a16="http://schemas.microsoft.com/office/drawing/2014/main" id="{136BBA21-E522-414A-867E-D608D8FA639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850AA58-08FE-4639-9FA5-25E4E8FF3088}"/>
              </a:ext>
            </a:extLst>
          </p:cNvPr>
          <p:cNvSpPr>
            <a:spLocks noGrp="1"/>
          </p:cNvSpPr>
          <p:nvPr>
            <p:ph type="sldNum" sz="quarter" idx="12"/>
          </p:nvPr>
        </p:nvSpPr>
        <p:spPr/>
        <p:txBody>
          <a:bodyPr/>
          <a:lstStyle/>
          <a:p>
            <a:fld id="{650800EC-04BA-40EC-9E63-8F1F3F91FC2E}" type="slidenum">
              <a:rPr lang="fr-FR" smtClean="0"/>
              <a:t>‹N°›</a:t>
            </a:fld>
            <a:endParaRPr lang="fr-FR"/>
          </a:p>
        </p:txBody>
      </p:sp>
    </p:spTree>
    <p:extLst>
      <p:ext uri="{BB962C8B-B14F-4D97-AF65-F5344CB8AC3E}">
        <p14:creationId xmlns:p14="http://schemas.microsoft.com/office/powerpoint/2010/main" val="736990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ECCDADC-62F8-48A8-8BE0-3A23B90E2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41971E1-A6DA-426E-B372-0A2377CCC8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8B9D244-F32A-4C05-A62A-E61549597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22DCEA-DD36-42D8-BA73-4E49D89A205E}" type="datetimeFigureOut">
              <a:rPr lang="fr-FR" smtClean="0"/>
              <a:t>28/02/2026</a:t>
            </a:fld>
            <a:endParaRPr lang="fr-FR"/>
          </a:p>
        </p:txBody>
      </p:sp>
      <p:sp>
        <p:nvSpPr>
          <p:cNvPr id="5" name="Espace réservé du pied de page 4">
            <a:extLst>
              <a:ext uri="{FF2B5EF4-FFF2-40B4-BE49-F238E27FC236}">
                <a16:creationId xmlns:a16="http://schemas.microsoft.com/office/drawing/2014/main" id="{FA47313B-10E1-4229-8DA9-58D9504FF5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39D8A56-09F0-4E43-A18A-6FD99AB2A2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00EC-04BA-40EC-9E63-8F1F3F91FC2E}" type="slidenum">
              <a:rPr lang="fr-FR" smtClean="0"/>
              <a:t>‹N°›</a:t>
            </a:fld>
            <a:endParaRPr lang="fr-FR"/>
          </a:p>
        </p:txBody>
      </p:sp>
    </p:spTree>
    <p:extLst>
      <p:ext uri="{BB962C8B-B14F-4D97-AF65-F5344CB8AC3E}">
        <p14:creationId xmlns:p14="http://schemas.microsoft.com/office/powerpoint/2010/main" val="2470169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2CE681-1D19-49EE-8140-FD8AE4E8C270}"/>
              </a:ext>
            </a:extLst>
          </p:cNvPr>
          <p:cNvSpPr>
            <a:spLocks noGrp="1"/>
          </p:cNvSpPr>
          <p:nvPr>
            <p:ph type="ctrTitle"/>
          </p:nvPr>
        </p:nvSpPr>
        <p:spPr/>
        <p:txBody>
          <a:bodyPr/>
          <a:lstStyle/>
          <a:p>
            <a:r>
              <a:rPr lang="fr-FR" dirty="0"/>
              <a:t>Accueil</a:t>
            </a:r>
          </a:p>
        </p:txBody>
      </p:sp>
      <p:sp>
        <p:nvSpPr>
          <p:cNvPr id="3" name="Sous-titre 2">
            <a:extLst>
              <a:ext uri="{FF2B5EF4-FFF2-40B4-BE49-F238E27FC236}">
                <a16:creationId xmlns:a16="http://schemas.microsoft.com/office/drawing/2014/main" id="{E7A2A40C-048D-4937-85DB-60103A7E0AF8}"/>
              </a:ext>
            </a:extLst>
          </p:cNvPr>
          <p:cNvSpPr>
            <a:spLocks noGrp="1"/>
          </p:cNvSpPr>
          <p:nvPr>
            <p:ph type="subTitle" idx="1"/>
          </p:nvPr>
        </p:nvSpPr>
        <p:spPr/>
        <p:txBody>
          <a:bodyPr/>
          <a:lstStyle/>
          <a:p>
            <a:endParaRPr lang="fr-FR"/>
          </a:p>
        </p:txBody>
      </p:sp>
      <p:sp>
        <p:nvSpPr>
          <p:cNvPr id="4" name="Titre 1">
            <a:extLst>
              <a:ext uri="{FF2B5EF4-FFF2-40B4-BE49-F238E27FC236}">
                <a16:creationId xmlns:a16="http://schemas.microsoft.com/office/drawing/2014/main" id="{99AAF1CF-631E-4281-BB92-0E44D0A9AB3F}"/>
              </a:ext>
            </a:extLst>
          </p:cNvPr>
          <p:cNvSpPr txBox="1">
            <a:spLocks/>
          </p:cNvSpPr>
          <p:nvPr/>
        </p:nvSpPr>
        <p:spPr>
          <a:xfrm>
            <a:off x="4840172" y="0"/>
            <a:ext cx="7380629" cy="6858001"/>
          </a:xfrm>
          <a:prstGeom prst="rect">
            <a:avLst/>
          </a:prstGeom>
          <a:blipFill>
            <a:blip r:embed="rId2"/>
            <a:tile tx="0" ty="0" sx="100000" sy="100000" flip="none" algn="tl"/>
          </a:blip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fr-FR"/>
            </a:br>
            <a:br>
              <a:rPr lang="fr-FR"/>
            </a:br>
            <a:endParaRPr lang="fr-FR" dirty="0"/>
          </a:p>
        </p:txBody>
      </p:sp>
      <p:sp>
        <p:nvSpPr>
          <p:cNvPr id="6" name="Rectangle 5">
            <a:extLst>
              <a:ext uri="{FF2B5EF4-FFF2-40B4-BE49-F238E27FC236}">
                <a16:creationId xmlns:a16="http://schemas.microsoft.com/office/drawing/2014/main" id="{75E41F1A-7EB8-4444-8D70-13E3DB217700}"/>
              </a:ext>
            </a:extLst>
          </p:cNvPr>
          <p:cNvSpPr/>
          <p:nvPr/>
        </p:nvSpPr>
        <p:spPr>
          <a:xfrm>
            <a:off x="5257603" y="238073"/>
            <a:ext cx="5565296" cy="1840018"/>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4000" dirty="0">
                <a:solidFill>
                  <a:schemeClr val="accent4"/>
                </a:solidFill>
                <a:latin typeface="Times New Roman" panose="02020603050405020304" pitchFamily="18" charset="0"/>
                <a:cs typeface="Times New Roman" panose="02020603050405020304" pitchFamily="18" charset="0"/>
              </a:rPr>
              <a:t> Projet Bloc 1 – Projet de transformation digitale stratégique </a:t>
            </a:r>
          </a:p>
        </p:txBody>
      </p:sp>
      <p:sp>
        <p:nvSpPr>
          <p:cNvPr id="7" name="ZoneTexte 6">
            <a:extLst>
              <a:ext uri="{FF2B5EF4-FFF2-40B4-BE49-F238E27FC236}">
                <a16:creationId xmlns:a16="http://schemas.microsoft.com/office/drawing/2014/main" id="{89DDFBD8-78A4-47DD-9D4B-753570F59C87}"/>
              </a:ext>
            </a:extLst>
          </p:cNvPr>
          <p:cNvSpPr txBox="1"/>
          <p:nvPr/>
        </p:nvSpPr>
        <p:spPr>
          <a:xfrm>
            <a:off x="5257603" y="2105052"/>
            <a:ext cx="5693515" cy="2554545"/>
          </a:xfrm>
          <a:prstGeom prst="rect">
            <a:avLst/>
          </a:prstGeom>
          <a:noFill/>
        </p:spPr>
        <p:txBody>
          <a:bodyPr wrap="square" rtlCol="0">
            <a:spAutoFit/>
          </a:bodyPr>
          <a:lstStyle/>
          <a:p>
            <a:pPr algn="just"/>
            <a:r>
              <a:rPr lang="fr-FR" sz="2000" b="1" dirty="0">
                <a:latin typeface="Times New Roman" panose="02020603050405020304" pitchFamily="18" charset="0"/>
                <a:cs typeface="Times New Roman" panose="02020603050405020304" pitchFamily="18" charset="0"/>
              </a:rPr>
              <a:t>Bienvenue dans cette présentation guide des étudiants et débutants en informatique à travers des concepts fondamentaux du Bloc 1 relatif au développement web. </a:t>
            </a:r>
            <a:r>
              <a:rPr lang="en-US" sz="2000" b="1" dirty="0">
                <a:latin typeface="Times New Roman" panose="02020603050405020304" pitchFamily="18" charset="0"/>
                <a:ea typeface="Quattrocento" pitchFamily="34" charset="-122"/>
                <a:cs typeface="Times New Roman" panose="02020603050405020304" pitchFamily="18" charset="0"/>
              </a:rPr>
              <a:t>Dans </a:t>
            </a:r>
            <a:r>
              <a:rPr lang="en-US" sz="2000" b="1" dirty="0" err="1">
                <a:latin typeface="Times New Roman" panose="02020603050405020304" pitchFamily="18" charset="0"/>
                <a:ea typeface="Quattrocento" pitchFamily="34" charset="-122"/>
                <a:cs typeface="Times New Roman" panose="02020603050405020304" pitchFamily="18" charset="0"/>
              </a:rPr>
              <a:t>cette</a:t>
            </a:r>
            <a:r>
              <a:rPr lang="en-US" sz="2000" b="1" dirty="0">
                <a:latin typeface="Times New Roman" panose="02020603050405020304" pitchFamily="18" charset="0"/>
                <a:ea typeface="Quattrocento" pitchFamily="34" charset="-122"/>
                <a:cs typeface="Times New Roman" panose="02020603050405020304" pitchFamily="18" charset="0"/>
              </a:rPr>
              <a:t> presentation, nous </a:t>
            </a:r>
            <a:r>
              <a:rPr lang="en-US" sz="2000" b="1" dirty="0" err="1">
                <a:latin typeface="Times New Roman" panose="02020603050405020304" pitchFamily="18" charset="0"/>
                <a:ea typeface="Quattrocento" pitchFamily="34" charset="-122"/>
                <a:cs typeface="Times New Roman" panose="02020603050405020304" pitchFamily="18" charset="0"/>
              </a:rPr>
              <a:t>présenterons</a:t>
            </a:r>
            <a:r>
              <a:rPr lang="en-US" sz="2000" b="1" dirty="0">
                <a:latin typeface="Times New Roman" panose="02020603050405020304" pitchFamily="18" charset="0"/>
                <a:ea typeface="Quattrocento" pitchFamily="34" charset="-122"/>
                <a:cs typeface="Times New Roman" panose="02020603050405020304" pitchFamily="18" charset="0"/>
              </a:rPr>
              <a:t> un plan </a:t>
            </a:r>
            <a:r>
              <a:rPr lang="en-US" sz="2000" b="1" dirty="0" err="1">
                <a:latin typeface="Times New Roman" panose="02020603050405020304" pitchFamily="18" charset="0"/>
                <a:ea typeface="Quattrocento" pitchFamily="34" charset="-122"/>
                <a:cs typeface="Times New Roman" panose="02020603050405020304" pitchFamily="18" charset="0"/>
              </a:rPr>
              <a:t>stratégique</a:t>
            </a:r>
            <a:r>
              <a:rPr lang="en-US" sz="2000" b="1" dirty="0">
                <a:latin typeface="Times New Roman" panose="02020603050405020304" pitchFamily="18" charset="0"/>
                <a:ea typeface="Quattrocento" pitchFamily="34" charset="-122"/>
                <a:cs typeface="Times New Roman" panose="02020603050405020304" pitchFamily="18" charset="0"/>
              </a:rPr>
              <a:t> </a:t>
            </a:r>
            <a:r>
              <a:rPr lang="en-US" sz="2000" b="1" dirty="0" err="1">
                <a:latin typeface="Times New Roman" panose="02020603050405020304" pitchFamily="18" charset="0"/>
                <a:ea typeface="Quattrocento" pitchFamily="34" charset="-122"/>
                <a:cs typeface="Times New Roman" panose="02020603050405020304" pitchFamily="18" charset="0"/>
              </a:rPr>
              <a:t>audacieux</a:t>
            </a:r>
            <a:r>
              <a:rPr lang="en-US" sz="2000" b="1" dirty="0">
                <a:latin typeface="Times New Roman" panose="02020603050405020304" pitchFamily="18" charset="0"/>
                <a:ea typeface="Quattrocento" pitchFamily="34" charset="-122"/>
                <a:cs typeface="Times New Roman" panose="02020603050405020304" pitchFamily="18" charset="0"/>
              </a:rPr>
              <a:t> pour </a:t>
            </a:r>
            <a:r>
              <a:rPr lang="en-US" sz="2000" b="1" dirty="0" err="1">
                <a:latin typeface="Times New Roman" panose="02020603050405020304" pitchFamily="18" charset="0"/>
                <a:ea typeface="Quattrocento" pitchFamily="34" charset="-122"/>
                <a:cs typeface="Times New Roman" panose="02020603050405020304" pitchFamily="18" charset="0"/>
              </a:rPr>
              <a:t>revitaliser</a:t>
            </a:r>
            <a:r>
              <a:rPr lang="en-US" sz="2000" b="1" dirty="0">
                <a:latin typeface="Times New Roman" panose="02020603050405020304" pitchFamily="18" charset="0"/>
                <a:ea typeface="Quattrocento" pitchFamily="34" charset="-122"/>
                <a:cs typeface="Times New Roman" panose="02020603050405020304" pitchFamily="18" charset="0"/>
              </a:rPr>
              <a:t> LUXEORA Fashion House, </a:t>
            </a:r>
            <a:r>
              <a:rPr lang="en-US" sz="2000" b="1" dirty="0" err="1">
                <a:latin typeface="Times New Roman" panose="02020603050405020304" pitchFamily="18" charset="0"/>
                <a:ea typeface="Quattrocento" pitchFamily="34" charset="-122"/>
                <a:cs typeface="Times New Roman" panose="02020603050405020304" pitchFamily="18" charset="0"/>
              </a:rPr>
              <a:t>en</a:t>
            </a:r>
            <a:r>
              <a:rPr lang="en-US" sz="2000" b="1" dirty="0">
                <a:latin typeface="Times New Roman" panose="02020603050405020304" pitchFamily="18" charset="0"/>
                <a:ea typeface="Quattrocento" pitchFamily="34" charset="-122"/>
                <a:cs typeface="Times New Roman" panose="02020603050405020304" pitchFamily="18" charset="0"/>
              </a:rPr>
              <a:t> </a:t>
            </a:r>
            <a:r>
              <a:rPr lang="en-US" sz="2000" b="1" dirty="0" err="1">
                <a:latin typeface="Times New Roman" panose="02020603050405020304" pitchFamily="18" charset="0"/>
                <a:ea typeface="Quattrocento" pitchFamily="34" charset="-122"/>
                <a:cs typeface="Times New Roman" panose="02020603050405020304" pitchFamily="18" charset="0"/>
              </a:rPr>
              <a:t>tirant</a:t>
            </a:r>
            <a:r>
              <a:rPr lang="en-US" sz="2000" b="1" dirty="0">
                <a:latin typeface="Times New Roman" panose="02020603050405020304" pitchFamily="18" charset="0"/>
                <a:ea typeface="Quattrocento" pitchFamily="34" charset="-122"/>
                <a:cs typeface="Times New Roman" panose="02020603050405020304" pitchFamily="18" charset="0"/>
              </a:rPr>
              <a:t> parti du </a:t>
            </a:r>
            <a:r>
              <a:rPr lang="en-US" sz="2000" b="1" dirty="0" err="1">
                <a:latin typeface="Times New Roman" panose="02020603050405020304" pitchFamily="18" charset="0"/>
                <a:ea typeface="Quattrocento" pitchFamily="34" charset="-122"/>
                <a:cs typeface="Times New Roman" panose="02020603050405020304" pitchFamily="18" charset="0"/>
              </a:rPr>
              <a:t>potentiel</a:t>
            </a:r>
            <a:r>
              <a:rPr lang="en-US" sz="2000" b="1" dirty="0">
                <a:latin typeface="Times New Roman" panose="02020603050405020304" pitchFamily="18" charset="0"/>
                <a:ea typeface="Quattrocento" pitchFamily="34" charset="-122"/>
                <a:cs typeface="Times New Roman" panose="02020603050405020304" pitchFamily="18" charset="0"/>
              </a:rPr>
              <a:t> du digital pour transformer </a:t>
            </a:r>
            <a:r>
              <a:rPr lang="en-US" sz="2000" b="1" dirty="0" err="1">
                <a:latin typeface="Times New Roman" panose="02020603050405020304" pitchFamily="18" charset="0"/>
                <a:ea typeface="Quattrocento" pitchFamily="34" charset="-122"/>
                <a:cs typeface="Times New Roman" panose="02020603050405020304" pitchFamily="18" charset="0"/>
              </a:rPr>
              <a:t>une</a:t>
            </a:r>
            <a:r>
              <a:rPr lang="en-US" sz="2000" b="1" dirty="0">
                <a:latin typeface="Times New Roman" panose="02020603050405020304" pitchFamily="18" charset="0"/>
                <a:ea typeface="Quattrocento" pitchFamily="34" charset="-122"/>
                <a:cs typeface="Times New Roman" panose="02020603050405020304" pitchFamily="18" charset="0"/>
              </a:rPr>
              <a:t> </a:t>
            </a:r>
            <a:r>
              <a:rPr lang="en-US" sz="2000" b="1" dirty="0" err="1">
                <a:latin typeface="Times New Roman" panose="02020603050405020304" pitchFamily="18" charset="0"/>
                <a:ea typeface="Quattrocento" pitchFamily="34" charset="-122"/>
                <a:cs typeface="Times New Roman" panose="02020603050405020304" pitchFamily="18" charset="0"/>
              </a:rPr>
              <a:t>réputation</a:t>
            </a:r>
            <a:r>
              <a:rPr lang="en-US" sz="2000" b="1" dirty="0">
                <a:latin typeface="Times New Roman" panose="02020603050405020304" pitchFamily="18" charset="0"/>
                <a:ea typeface="Quattrocento" pitchFamily="34" charset="-122"/>
                <a:cs typeface="Times New Roman" panose="02020603050405020304" pitchFamily="18" charset="0"/>
              </a:rPr>
              <a:t> locale </a:t>
            </a:r>
            <a:r>
              <a:rPr lang="en-US" sz="2000" b="1" dirty="0" err="1">
                <a:latin typeface="Times New Roman" panose="02020603050405020304" pitchFamily="18" charset="0"/>
                <a:ea typeface="Quattrocento" pitchFamily="34" charset="-122"/>
                <a:cs typeface="Times New Roman" panose="02020603050405020304" pitchFamily="18" charset="0"/>
              </a:rPr>
              <a:t>établie</a:t>
            </a:r>
            <a:r>
              <a:rPr lang="en-US" sz="2000" b="1" dirty="0">
                <a:latin typeface="Times New Roman" panose="02020603050405020304" pitchFamily="18" charset="0"/>
                <a:ea typeface="Quattrocento" pitchFamily="34" charset="-122"/>
                <a:cs typeface="Times New Roman" panose="02020603050405020304" pitchFamily="18" charset="0"/>
              </a:rPr>
              <a:t> </a:t>
            </a:r>
            <a:r>
              <a:rPr lang="en-US" sz="2000" b="1" dirty="0" err="1">
                <a:latin typeface="Times New Roman" panose="02020603050405020304" pitchFamily="18" charset="0"/>
                <a:ea typeface="Quattrocento" pitchFamily="34" charset="-122"/>
                <a:cs typeface="Times New Roman" panose="02020603050405020304" pitchFamily="18" charset="0"/>
              </a:rPr>
              <a:t>en</a:t>
            </a:r>
            <a:r>
              <a:rPr lang="en-US" sz="2000" b="1" dirty="0">
                <a:latin typeface="Times New Roman" panose="02020603050405020304" pitchFamily="18" charset="0"/>
                <a:ea typeface="Quattrocento" pitchFamily="34" charset="-122"/>
                <a:cs typeface="Times New Roman" panose="02020603050405020304" pitchFamily="18" charset="0"/>
              </a:rPr>
              <a:t> un succès global.</a:t>
            </a:r>
            <a:endParaRPr lang="fr-FR" sz="2000" b="1"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D0211A41-7C01-4720-99E7-2130FFD6BD39}"/>
              </a:ext>
            </a:extLst>
          </p:cNvPr>
          <p:cNvSpPr/>
          <p:nvPr/>
        </p:nvSpPr>
        <p:spPr>
          <a:xfrm>
            <a:off x="6227680" y="4716488"/>
            <a:ext cx="4141786" cy="2038298"/>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u="sng" dirty="0">
                <a:solidFill>
                  <a:schemeClr val="accent4">
                    <a:lumMod val="60000"/>
                    <a:lumOff val="40000"/>
                  </a:schemeClr>
                </a:solidFill>
                <a:latin typeface="Times New Roman" panose="02020603050405020304" pitchFamily="18" charset="0"/>
                <a:cs typeface="Times New Roman" panose="02020603050405020304" pitchFamily="18" charset="0"/>
              </a:rPr>
              <a:t>Membres du groupe 1</a:t>
            </a:r>
          </a:p>
          <a:p>
            <a:pPr algn="just"/>
            <a:r>
              <a:rPr lang="fr-FR" dirty="0">
                <a:solidFill>
                  <a:schemeClr val="accent4">
                    <a:lumMod val="60000"/>
                    <a:lumOff val="40000"/>
                  </a:schemeClr>
                </a:solidFill>
                <a:latin typeface="Times New Roman" panose="02020603050405020304" pitchFamily="18" charset="0"/>
                <a:cs typeface="Times New Roman" panose="02020603050405020304" pitchFamily="18" charset="0"/>
              </a:rPr>
              <a:t>Aristote Léon </a:t>
            </a:r>
            <a:r>
              <a:rPr lang="fr-FR" dirty="0" err="1">
                <a:solidFill>
                  <a:schemeClr val="accent4">
                    <a:lumMod val="60000"/>
                    <a:lumOff val="40000"/>
                  </a:schemeClr>
                </a:solidFill>
                <a:latin typeface="Times New Roman" panose="02020603050405020304" pitchFamily="18" charset="0"/>
                <a:cs typeface="Times New Roman" panose="02020603050405020304" pitchFamily="18" charset="0"/>
              </a:rPr>
              <a:t>Egnon</a:t>
            </a:r>
            <a:r>
              <a:rPr lang="fr-FR" dirty="0">
                <a:solidFill>
                  <a:schemeClr val="accent4">
                    <a:lumMod val="60000"/>
                    <a:lumOff val="40000"/>
                  </a:schemeClr>
                </a:solidFill>
                <a:latin typeface="Times New Roman" panose="02020603050405020304" pitchFamily="18" charset="0"/>
                <a:cs typeface="Times New Roman" panose="02020603050405020304" pitchFamily="18" charset="0"/>
              </a:rPr>
              <a:t> HOUNTONDJI (IA)</a:t>
            </a:r>
          </a:p>
          <a:p>
            <a:pPr algn="just"/>
            <a:r>
              <a:rPr lang="fr-FR" dirty="0" err="1">
                <a:solidFill>
                  <a:schemeClr val="accent4">
                    <a:lumMod val="60000"/>
                    <a:lumOff val="40000"/>
                  </a:schemeClr>
                </a:solidFill>
                <a:latin typeface="Times New Roman" panose="02020603050405020304" pitchFamily="18" charset="0"/>
                <a:cs typeface="Times New Roman" panose="02020603050405020304" pitchFamily="18" charset="0"/>
              </a:rPr>
              <a:t>Mawoussi</a:t>
            </a:r>
            <a:r>
              <a:rPr lang="fr-FR" dirty="0">
                <a:solidFill>
                  <a:schemeClr val="accent4">
                    <a:lumMod val="60000"/>
                    <a:lumOff val="40000"/>
                  </a:schemeClr>
                </a:solidFill>
                <a:latin typeface="Times New Roman" panose="02020603050405020304" pitchFamily="18" charset="0"/>
                <a:cs typeface="Times New Roman" panose="02020603050405020304" pitchFamily="18" charset="0"/>
              </a:rPr>
              <a:t> Sandrine AGBODJI (SEIOT)</a:t>
            </a:r>
          </a:p>
          <a:p>
            <a:pPr algn="just"/>
            <a:r>
              <a:rPr lang="fr-FR" dirty="0">
                <a:solidFill>
                  <a:schemeClr val="accent4">
                    <a:lumMod val="60000"/>
                    <a:lumOff val="40000"/>
                  </a:schemeClr>
                </a:solidFill>
                <a:latin typeface="Times New Roman" panose="02020603050405020304" pitchFamily="18" charset="0"/>
                <a:cs typeface="Times New Roman" panose="02020603050405020304" pitchFamily="18" charset="0"/>
              </a:rPr>
              <a:t>Prince Freddy HOUNHOWAKOU (IA)</a:t>
            </a:r>
          </a:p>
          <a:p>
            <a:pPr algn="just"/>
            <a:r>
              <a:rPr lang="fr-FR" dirty="0">
                <a:solidFill>
                  <a:schemeClr val="accent4">
                    <a:lumMod val="60000"/>
                    <a:lumOff val="40000"/>
                  </a:schemeClr>
                </a:solidFill>
                <a:latin typeface="Times New Roman" panose="02020603050405020304" pitchFamily="18" charset="0"/>
                <a:cs typeface="Times New Roman" panose="02020603050405020304" pitchFamily="18" charset="0"/>
              </a:rPr>
              <a:t>Pascal APOVO (SI)</a:t>
            </a:r>
          </a:p>
          <a:p>
            <a:pPr algn="just"/>
            <a:r>
              <a:rPr lang="fr-FR" dirty="0" err="1">
                <a:solidFill>
                  <a:schemeClr val="accent4">
                    <a:lumMod val="60000"/>
                    <a:lumOff val="40000"/>
                  </a:schemeClr>
                </a:solidFill>
                <a:latin typeface="Times New Roman" panose="02020603050405020304" pitchFamily="18" charset="0"/>
                <a:cs typeface="Times New Roman" panose="02020603050405020304" pitchFamily="18" charset="0"/>
              </a:rPr>
              <a:t>Sègla</a:t>
            </a:r>
            <a:r>
              <a:rPr lang="fr-FR" dirty="0">
                <a:solidFill>
                  <a:schemeClr val="accent4">
                    <a:lumMod val="60000"/>
                    <a:lumOff val="40000"/>
                  </a:schemeClr>
                </a:solidFill>
                <a:latin typeface="Times New Roman" panose="02020603050405020304" pitchFamily="18" charset="0"/>
                <a:cs typeface="Times New Roman" panose="02020603050405020304" pitchFamily="18" charset="0"/>
              </a:rPr>
              <a:t> Ange-Melon KINHOU (IM)</a:t>
            </a:r>
          </a:p>
          <a:p>
            <a:pPr algn="just"/>
            <a:r>
              <a:rPr lang="fr-FR" dirty="0">
                <a:solidFill>
                  <a:schemeClr val="accent4">
                    <a:lumMod val="60000"/>
                    <a:lumOff val="40000"/>
                  </a:schemeClr>
                </a:solidFill>
                <a:latin typeface="Times New Roman" panose="02020603050405020304" pitchFamily="18" charset="0"/>
                <a:cs typeface="Times New Roman" panose="02020603050405020304" pitchFamily="18" charset="0"/>
              </a:rPr>
              <a:t>Victoria Gloria TOVIHOUANDE (IA)</a:t>
            </a:r>
          </a:p>
        </p:txBody>
      </p:sp>
      <p:pic>
        <p:nvPicPr>
          <p:cNvPr id="10" name="Image 9">
            <a:extLst>
              <a:ext uri="{FF2B5EF4-FFF2-40B4-BE49-F238E27FC236}">
                <a16:creationId xmlns:a16="http://schemas.microsoft.com/office/drawing/2014/main" id="{4B4B2865-33B5-4DAE-AF95-A8E084AE5420}"/>
              </a:ext>
            </a:extLst>
          </p:cNvPr>
          <p:cNvPicPr>
            <a:picLocks noChangeAspect="1"/>
          </p:cNvPicPr>
          <p:nvPr/>
        </p:nvPicPr>
        <p:blipFill>
          <a:blip r:embed="rId4"/>
          <a:stretch>
            <a:fillRect/>
          </a:stretch>
        </p:blipFill>
        <p:spPr>
          <a:xfrm>
            <a:off x="14058" y="14990"/>
            <a:ext cx="4826114" cy="6858000"/>
          </a:xfrm>
          <a:prstGeom prst="rect">
            <a:avLst/>
          </a:prstGeom>
        </p:spPr>
      </p:pic>
    </p:spTree>
    <p:extLst>
      <p:ext uri="{BB962C8B-B14F-4D97-AF65-F5344CB8AC3E}">
        <p14:creationId xmlns:p14="http://schemas.microsoft.com/office/powerpoint/2010/main" val="2125554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349167-43B3-4A07-A120-390CAE9DF595}"/>
              </a:ext>
            </a:extLst>
          </p:cNvPr>
          <p:cNvSpPr>
            <a:spLocks noGrp="1"/>
          </p:cNvSpPr>
          <p:nvPr>
            <p:ph type="title"/>
          </p:nvPr>
        </p:nvSpPr>
        <p:spPr>
          <a:xfrm>
            <a:off x="5248272" y="0"/>
            <a:ext cx="6943726" cy="1225689"/>
          </a:xfrm>
          <a:solidFill>
            <a:schemeClr val="tx1"/>
          </a:solidFill>
        </p:spPr>
        <p:txBody>
          <a:bodyPr/>
          <a:lstStyle/>
          <a:p>
            <a:pPr algn="ctr"/>
            <a:r>
              <a:rPr lang="fr-FR" b="1" dirty="0">
                <a:solidFill>
                  <a:schemeClr val="accent4">
                    <a:lumMod val="60000"/>
                    <a:lumOff val="40000"/>
                  </a:schemeClr>
                </a:solidFill>
                <a:latin typeface="Times New Roman" panose="02020603050405020304" pitchFamily="18" charset="0"/>
                <a:cs typeface="Times New Roman" panose="02020603050405020304" pitchFamily="18" charset="0"/>
              </a:rPr>
              <a:t>INTRODUCTION</a:t>
            </a:r>
          </a:p>
        </p:txBody>
      </p:sp>
      <p:pic>
        <p:nvPicPr>
          <p:cNvPr id="5" name="Espace réservé du contenu 4">
            <a:extLst>
              <a:ext uri="{FF2B5EF4-FFF2-40B4-BE49-F238E27FC236}">
                <a16:creationId xmlns:a16="http://schemas.microsoft.com/office/drawing/2014/main" id="{FFEF57EB-FB36-46BE-8AA1-C7C12CE8C2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 y="0"/>
            <a:ext cx="5248273" cy="6858000"/>
          </a:xfrm>
        </p:spPr>
      </p:pic>
      <p:sp>
        <p:nvSpPr>
          <p:cNvPr id="6" name="ZoneTexte 5">
            <a:extLst>
              <a:ext uri="{FF2B5EF4-FFF2-40B4-BE49-F238E27FC236}">
                <a16:creationId xmlns:a16="http://schemas.microsoft.com/office/drawing/2014/main" id="{E1D52E4C-3F2F-467D-8993-A13D3DF300DF}"/>
              </a:ext>
            </a:extLst>
          </p:cNvPr>
          <p:cNvSpPr txBox="1"/>
          <p:nvPr/>
        </p:nvSpPr>
        <p:spPr>
          <a:xfrm>
            <a:off x="5248271" y="1225689"/>
            <a:ext cx="6943725" cy="5632311"/>
          </a:xfrm>
          <a:prstGeom prst="rect">
            <a:avLst/>
          </a:prstGeom>
          <a:solidFill>
            <a:schemeClr val="bg2">
              <a:lumMod val="90000"/>
            </a:schemeClr>
          </a:solidFill>
        </p:spPr>
        <p:txBody>
          <a:bodyPr wrap="square" rtlCol="0">
            <a:spAutoFit/>
          </a:bodyPr>
          <a:lstStyle/>
          <a:p>
            <a:pPr algn="just"/>
            <a:r>
              <a:rPr lang="fr-FR" dirty="0">
                <a:latin typeface="Times New Roman" panose="02020603050405020304" pitchFamily="18" charset="0"/>
                <a:cs typeface="Times New Roman" panose="02020603050405020304" pitchFamily="18" charset="0"/>
              </a:rPr>
              <a:t>	Dans un contexte où le digital est devenu un levier incontournable de croissance, les entreprises du secteur de la mode ne peuvent plus se limiter à une présence physique ou aux seuls réseaux sociaux. Aujourd’hui, la visibilité, la crédibilité et la performance commerciale d’une marque passent nécessairement par une stratégie digitale structurée et maîtrisée. LUXEORA Fashion House, boutique de mode haut de gamme spécialisée dans les collections homme et femme, bénéficie d’une forte notoriété locale et d’une qualité de produits reconnue. Toutefois, malgré ces atouts, l’entreprise fait face à une baisse progressive de ses performances commerciales, principalement due à une présence digitale insuffisante et non centralisée. Ce business plan s’inscrit dans une démarche de transformation digitale stratégique, visant à repositionner LUXEORA comme une marque premium moderne, visible et compétitive. Il propose une solution réaliste et évolutive, fondée sur la création d’une plateforme web professionnelle, conçue pour renforcer l’image de marque, améliorer la conversion des visiteurs et amorcer une croissance durable. À travers cette étude, LUXEORA se projette non seulement comme une entreprise de mode, mais comme une marque ambitieuse, prête à exploiter le digital comme un véritable moteur de valeur pour ses clients et pour ses investisseurs.</a:t>
            </a:r>
          </a:p>
        </p:txBody>
      </p:sp>
    </p:spTree>
    <p:extLst>
      <p:ext uri="{BB962C8B-B14F-4D97-AF65-F5344CB8AC3E}">
        <p14:creationId xmlns:p14="http://schemas.microsoft.com/office/powerpoint/2010/main" val="3969685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3BBB64-69AB-44DA-850B-ABA6FD7AFD0B}"/>
              </a:ext>
            </a:extLst>
          </p:cNvPr>
          <p:cNvSpPr>
            <a:spLocks noGrp="1"/>
          </p:cNvSpPr>
          <p:nvPr>
            <p:ph type="title"/>
          </p:nvPr>
        </p:nvSpPr>
        <p:spPr>
          <a:xfrm>
            <a:off x="3807502" y="1"/>
            <a:ext cx="8384498" cy="1343818"/>
          </a:xfrm>
          <a:blipFill>
            <a:blip r:embed="rId2"/>
            <a:tile tx="0" ty="0" sx="100000" sy="100000" flip="none" algn="tl"/>
          </a:blipFill>
        </p:spPr>
        <p:txBody>
          <a:bodyPr/>
          <a:lstStyle/>
          <a:p>
            <a:r>
              <a:rPr lang="fr-FR" dirty="0"/>
              <a:t>1) Présentation de l’entreprise et du contexte</a:t>
            </a:r>
          </a:p>
        </p:txBody>
      </p:sp>
      <p:pic>
        <p:nvPicPr>
          <p:cNvPr id="5" name="Espace réservé du contenu 4">
            <a:extLst>
              <a:ext uri="{FF2B5EF4-FFF2-40B4-BE49-F238E27FC236}">
                <a16:creationId xmlns:a16="http://schemas.microsoft.com/office/drawing/2014/main" id="{0F36604E-CC0C-4186-AA49-5E029D4DD06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8254"/>
            <a:ext cx="3807502" cy="6839745"/>
          </a:xfrm>
        </p:spPr>
      </p:pic>
      <p:sp>
        <p:nvSpPr>
          <p:cNvPr id="6" name="Rectangle 5">
            <a:extLst>
              <a:ext uri="{FF2B5EF4-FFF2-40B4-BE49-F238E27FC236}">
                <a16:creationId xmlns:a16="http://schemas.microsoft.com/office/drawing/2014/main" id="{123C3B22-5A44-4BEA-9077-4F7C4DE964D9}"/>
              </a:ext>
            </a:extLst>
          </p:cNvPr>
          <p:cNvSpPr/>
          <p:nvPr/>
        </p:nvSpPr>
        <p:spPr>
          <a:xfrm>
            <a:off x="3807502" y="1343818"/>
            <a:ext cx="8384498" cy="5514182"/>
          </a:xfrm>
          <a:prstGeom prst="rect">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LUXEORA Fashion House est une boutique de mode haut de gamme spécialisée dans les collections homme et femme. La marque bénéficie d’une forte notoriété locale et d’une qualité reconnue de ses produits, mais elle connaît une baisse progressive de ses performances commerciales. Cette situation est principalement due à une absence de stratégie digitale structurée, limitant sa visibilité, sa capacité de conversion et sa croissance à long terme.</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Ambition : faire de LUXEORA une référence de la mode premium locale, soutenue par une présence digitale forte, cohérente et performante.</a:t>
            </a:r>
          </a:p>
          <a:p>
            <a:pPr algn="ctr"/>
            <a:endParaRPr lang="fr-FR"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3536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B8DFF7-5BAA-4E92-972E-B8018244F32C}"/>
              </a:ext>
            </a:extLst>
          </p:cNvPr>
          <p:cNvSpPr>
            <a:spLocks noGrp="1"/>
          </p:cNvSpPr>
          <p:nvPr>
            <p:ph type="title"/>
          </p:nvPr>
        </p:nvSpPr>
        <p:spPr>
          <a:xfrm>
            <a:off x="4392118" y="1"/>
            <a:ext cx="7799882" cy="1229191"/>
          </a:xfrm>
          <a:blipFill>
            <a:blip r:embed="rId2"/>
            <a:tile tx="0" ty="0" sx="100000" sy="100000" flip="none" algn="tl"/>
          </a:blipFill>
        </p:spPr>
        <p:txBody>
          <a:bodyPr>
            <a:normAutofit/>
          </a:bodyPr>
          <a:lstStyle/>
          <a:p>
            <a:r>
              <a:rPr lang="fr-FR" sz="3600" dirty="0">
                <a:solidFill>
                  <a:schemeClr val="bg1"/>
                </a:solidFill>
                <a:latin typeface="Times New Roman" panose="02020603050405020304" pitchFamily="18" charset="0"/>
                <a:cs typeface="Times New Roman" panose="02020603050405020304" pitchFamily="18" charset="0"/>
              </a:rPr>
              <a:t>2) Analyse du marché et de la concurrence </a:t>
            </a:r>
          </a:p>
        </p:txBody>
      </p:sp>
      <p:pic>
        <p:nvPicPr>
          <p:cNvPr id="4" name="Image 0" descr="preencoded.png">
            <a:extLst>
              <a:ext uri="{FF2B5EF4-FFF2-40B4-BE49-F238E27FC236}">
                <a16:creationId xmlns:a16="http://schemas.microsoft.com/office/drawing/2014/main" id="{096029DB-E34E-46DD-A267-713E6152B945}"/>
              </a:ext>
            </a:extLst>
          </p:cNvPr>
          <p:cNvPicPr>
            <a:picLocks noGrp="1" noChangeAspect="1"/>
          </p:cNvPicPr>
          <p:nvPr>
            <p:ph idx="1"/>
          </p:nvPr>
        </p:nvPicPr>
        <p:blipFill>
          <a:blip r:embed="rId3"/>
          <a:stretch>
            <a:fillRect/>
          </a:stretch>
        </p:blipFill>
        <p:spPr>
          <a:xfrm>
            <a:off x="-1" y="0"/>
            <a:ext cx="4392119" cy="6858000"/>
          </a:xfrm>
          <a:prstGeom prst="rect">
            <a:avLst/>
          </a:prstGeom>
        </p:spPr>
      </p:pic>
      <p:sp>
        <p:nvSpPr>
          <p:cNvPr id="5" name="Rectangle 4">
            <a:extLst>
              <a:ext uri="{FF2B5EF4-FFF2-40B4-BE49-F238E27FC236}">
                <a16:creationId xmlns:a16="http://schemas.microsoft.com/office/drawing/2014/main" id="{DDDCF03C-808D-4390-B87F-AFEFC0ADF63D}"/>
              </a:ext>
            </a:extLst>
          </p:cNvPr>
          <p:cNvSpPr/>
          <p:nvPr/>
        </p:nvSpPr>
        <p:spPr>
          <a:xfrm>
            <a:off x="4392117" y="1229193"/>
            <a:ext cx="7799883" cy="5628806"/>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fr-FR" sz="20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fr-FR" sz="2000" b="1" kern="100" dirty="0">
                <a:latin typeface="Times New Roman" panose="02020603050405020304" pitchFamily="18" charset="0"/>
                <a:ea typeface="Times New Roman" panose="02020603050405020304" pitchFamily="18" charset="0"/>
                <a:cs typeface="Times New Roman" panose="02020603050405020304" pitchFamily="18" charset="0"/>
              </a:rPr>
              <a:t>  </a:t>
            </a:r>
            <a:r>
              <a:rPr lang="fr-FR"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Tendances du marché</a:t>
            </a:r>
          </a:p>
          <a:p>
            <a:pPr lvl="1"/>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 Forte digitalisation du secteur de la mode</a:t>
            </a:r>
          </a:p>
          <a:p>
            <a:pPr lvl="1"/>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•Les clients recherchent :</a:t>
            </a:r>
          </a:p>
          <a:p>
            <a:pPr lvl="1"/>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•crédibilité en ligne,</a:t>
            </a:r>
          </a:p>
          <a:p>
            <a:pPr lvl="1"/>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•expérience visuelle soignée,</a:t>
            </a:r>
          </a:p>
          <a:p>
            <a:pPr lvl="1"/>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•relation de confiance avec la marque</a:t>
            </a:r>
          </a:p>
          <a:p>
            <a:pPr lvl="1"/>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•La première interaction avec une marque se fait majoritairement en ligne</a:t>
            </a:r>
          </a:p>
          <a:p>
            <a:r>
              <a:rPr lang="fr-FR"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    Concurrence</a:t>
            </a:r>
          </a:p>
          <a:p>
            <a:pPr lvl="1"/>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•Marques présentes sur : Instagram / Facebook, sites web professionnel</a:t>
            </a:r>
          </a:p>
          <a:p>
            <a:pPr lvl="1"/>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•Les concurrents dotés d’un site web : inspirent plus de confiance, convertissent mieux, fidélisent davantage.</a:t>
            </a:r>
          </a:p>
          <a:p>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 Constat : LUXEORA est pénalisée non par son offre, mais par son retard digital.</a:t>
            </a:r>
          </a:p>
          <a:p>
            <a:pPr algn="ct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45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9B02AA-1F9C-4E3F-B95A-8615302CE5DA}"/>
              </a:ext>
            </a:extLst>
          </p:cNvPr>
          <p:cNvSpPr>
            <a:spLocks noGrp="1"/>
          </p:cNvSpPr>
          <p:nvPr>
            <p:ph type="title"/>
          </p:nvPr>
        </p:nvSpPr>
        <p:spPr>
          <a:xfrm>
            <a:off x="4351338" y="0"/>
            <a:ext cx="7840662" cy="1325563"/>
          </a:xfrm>
          <a:blipFill>
            <a:blip r:embed="rId2"/>
            <a:tile tx="0" ty="0" sx="100000" sy="100000" flip="none" algn="tl"/>
          </a:blipFill>
        </p:spPr>
        <p:txBody>
          <a:bodyPr/>
          <a:lstStyle/>
          <a:p>
            <a:r>
              <a:rPr lang="fr-FR" dirty="0"/>
              <a:t>3) Identification des </a:t>
            </a:r>
            <a:r>
              <a:rPr lang="fr-FR" dirty="0" err="1"/>
              <a:t>probèmes</a:t>
            </a:r>
            <a:r>
              <a:rPr lang="fr-FR" dirty="0"/>
              <a:t> </a:t>
            </a:r>
          </a:p>
        </p:txBody>
      </p:sp>
      <p:pic>
        <p:nvPicPr>
          <p:cNvPr id="5" name="Espace réservé du contenu 4">
            <a:extLst>
              <a:ext uri="{FF2B5EF4-FFF2-40B4-BE49-F238E27FC236}">
                <a16:creationId xmlns:a16="http://schemas.microsoft.com/office/drawing/2014/main" id="{D0E8BD26-0089-4242-9397-822027186E5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4351338" cy="6858000"/>
          </a:xfrm>
        </p:spPr>
      </p:pic>
      <p:sp>
        <p:nvSpPr>
          <p:cNvPr id="6" name="Rectangle 5">
            <a:extLst>
              <a:ext uri="{FF2B5EF4-FFF2-40B4-BE49-F238E27FC236}">
                <a16:creationId xmlns:a16="http://schemas.microsoft.com/office/drawing/2014/main" id="{A4166D8F-77AB-4385-9C39-63B39E5B247A}"/>
              </a:ext>
            </a:extLst>
          </p:cNvPr>
          <p:cNvSpPr/>
          <p:nvPr/>
        </p:nvSpPr>
        <p:spPr>
          <a:xfrm>
            <a:off x="4351338" y="1325563"/>
            <a:ext cx="7840662" cy="5532437"/>
          </a:xfrm>
          <a:prstGeom prst="rect">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pPr>
            <a:endParaRPr lang="fr-FR" sz="2400" kern="1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15000"/>
              </a:lnSpc>
              <a:spcAft>
                <a:spcPts val="800"/>
              </a:spcAft>
            </a:pPr>
            <a:r>
              <a:rPr lang="fr-FR" sz="2400" kern="100" dirty="0">
                <a:latin typeface="Times New Roman" panose="02020603050405020304" pitchFamily="18" charset="0"/>
                <a:ea typeface="Times New Roman" panose="02020603050405020304" pitchFamily="18" charset="0"/>
                <a:cs typeface="Times New Roman" panose="02020603050405020304" pitchFamily="18" charset="0"/>
              </a:rPr>
              <a:t>       </a:t>
            </a: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Ces problèmes so</a:t>
            </a:r>
            <a:r>
              <a:rPr lang="fr-FR" sz="2400" kern="100" dirty="0">
                <a:latin typeface="Times New Roman" panose="02020603050405020304" pitchFamily="18" charset="0"/>
                <a:ea typeface="Times New Roman" panose="02020603050405020304" pitchFamily="18" charset="0"/>
                <a:cs typeface="Times New Roman" panose="02020603050405020304" pitchFamily="18" charset="0"/>
              </a:rPr>
              <a:t>nt liés entre autres à: </a:t>
            </a:r>
            <a:endPar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15000"/>
              </a:lnSpc>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fr-FR" sz="2400" kern="100" dirty="0">
                <a:latin typeface="Times New Roman" panose="02020603050405020304" pitchFamily="18" charset="0"/>
                <a:ea typeface="Times New Roman" panose="02020603050405020304" pitchFamily="18" charset="0"/>
                <a:cs typeface="Times New Roman" panose="02020603050405020304" pitchFamily="18" charset="0"/>
              </a:rPr>
              <a:t>Une a</a:t>
            </a: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bsence de site web officiel</a:t>
            </a:r>
          </a:p>
          <a:p>
            <a:pPr>
              <a:lnSpc>
                <a:spcPct val="115000"/>
              </a:lnSpc>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Une dépendance excessive aux réseaux sociaux</a:t>
            </a:r>
          </a:p>
          <a:p>
            <a:pPr>
              <a:lnSpc>
                <a:spcPct val="115000"/>
              </a:lnSpc>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Une image de marque vieillissante et peu cohérente</a:t>
            </a:r>
          </a:p>
          <a:p>
            <a:pPr>
              <a:lnSpc>
                <a:spcPct val="115000"/>
              </a:lnSpc>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Une basse transformation des visiteurs en clients</a:t>
            </a:r>
          </a:p>
          <a:p>
            <a:pPr>
              <a:lnSpc>
                <a:spcPct val="115000"/>
              </a:lnSpc>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Aucune collecte de données clients</a:t>
            </a:r>
          </a:p>
          <a:p>
            <a:pPr>
              <a:lnSpc>
                <a:spcPct val="115000"/>
              </a:lnSpc>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Une dépendance au trafic physique en boutique</a:t>
            </a:r>
          </a:p>
          <a:p>
            <a:pPr>
              <a:lnSpc>
                <a:spcPct val="115000"/>
              </a:lnSpc>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a:lnSpc>
                <a:spcPct val="115000"/>
              </a:lnSpc>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Ces problèmes limitent la croissance, la fidélisation et l’attractivité de la marque pour les investisseurs.</a:t>
            </a:r>
          </a:p>
          <a:p>
            <a:pPr algn="ct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1061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F417E2-23EC-46EC-BE02-0106AC92231C}"/>
              </a:ext>
            </a:extLst>
          </p:cNvPr>
          <p:cNvSpPr>
            <a:spLocks noGrp="1"/>
          </p:cNvSpPr>
          <p:nvPr>
            <p:ph type="title"/>
          </p:nvPr>
        </p:nvSpPr>
        <p:spPr>
          <a:xfrm>
            <a:off x="4047343" y="1"/>
            <a:ext cx="8144657" cy="1259173"/>
          </a:xfrm>
        </p:spPr>
        <p:txBody>
          <a:bodyPr/>
          <a:lstStyle/>
          <a:p>
            <a:r>
              <a:rPr lang="fr-FR" dirty="0"/>
              <a:t>4) Analyse SWOT</a:t>
            </a:r>
          </a:p>
        </p:txBody>
      </p:sp>
      <p:pic>
        <p:nvPicPr>
          <p:cNvPr id="7" name="Espace réservé du contenu 6">
            <a:extLst>
              <a:ext uri="{FF2B5EF4-FFF2-40B4-BE49-F238E27FC236}">
                <a16:creationId xmlns:a16="http://schemas.microsoft.com/office/drawing/2014/main" id="{5BE9401F-7861-461F-9282-029CF69DE3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4047344" cy="6858001"/>
          </a:xfrm>
        </p:spPr>
      </p:pic>
      <p:sp>
        <p:nvSpPr>
          <p:cNvPr id="8" name="Rectangle 7">
            <a:extLst>
              <a:ext uri="{FF2B5EF4-FFF2-40B4-BE49-F238E27FC236}">
                <a16:creationId xmlns:a16="http://schemas.microsoft.com/office/drawing/2014/main" id="{B15F789A-ED12-4995-8AB5-1DBC0E73F959}"/>
              </a:ext>
            </a:extLst>
          </p:cNvPr>
          <p:cNvSpPr/>
          <p:nvPr/>
        </p:nvSpPr>
        <p:spPr>
          <a:xfrm>
            <a:off x="4047344" y="1079292"/>
            <a:ext cx="8144657" cy="577870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kern="100" dirty="0">
                <a:solidFill>
                  <a:schemeClr val="tx1"/>
                </a:solidFill>
                <a:latin typeface="Segoe UI Emoji" panose="020B0502040204020203" pitchFamily="34" charset="0"/>
                <a:ea typeface="Times New Roman" panose="02020603050405020304" pitchFamily="18" charset="0"/>
                <a:cs typeface="Times New Roman" panose="02020603050405020304" pitchFamily="18" charset="0"/>
              </a:rPr>
              <a:t>  </a:t>
            </a:r>
            <a:r>
              <a:rPr lang="fr-FR" sz="1800" kern="100" dirty="0">
                <a:solidFill>
                  <a:schemeClr val="tx1"/>
                </a:solidFill>
                <a:effectLst/>
                <a:latin typeface="Aptos"/>
                <a:ea typeface="Times New Roman" panose="02020603050405020304" pitchFamily="18" charset="0"/>
                <a:cs typeface="Times New Roman" panose="02020603050405020304" pitchFamily="18" charset="0"/>
              </a:rPr>
              <a:t>Forces</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•Produits haut de gamme</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•Image locale déjà installée</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•Savoir-faire reconnu</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Faiblesses</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•Absence de présence digitale structurée</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•Aucun canal de conversion en ligne</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•Manque de données clients</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Opportunités</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•Digitalisation croissante du marché</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•Coût faible d’entrée dans le web</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•Possibilité d’élargir la clientèle</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Menaces</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•Concurrence plus digitalisée</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•Dépendance aux algorithmes des réseaux sociaux</a:t>
            </a:r>
          </a:p>
          <a:p>
            <a:r>
              <a:rPr lang="fr-FR" sz="1800" kern="100" dirty="0">
                <a:solidFill>
                  <a:schemeClr val="tx1"/>
                </a:solidFill>
                <a:effectLst/>
                <a:latin typeface="Aptos"/>
                <a:ea typeface="Times New Roman" panose="02020603050405020304" pitchFamily="18" charset="0"/>
                <a:cs typeface="Times New Roman" panose="02020603050405020304" pitchFamily="18" charset="0"/>
              </a:rPr>
              <a:t>	•Évolution rapide des attentes clients</a:t>
            </a:r>
          </a:p>
          <a:p>
            <a:pPr algn="ctr"/>
            <a:endParaRPr lang="fr-FR" dirty="0">
              <a:solidFill>
                <a:schemeClr val="tx1"/>
              </a:solidFill>
            </a:endParaRPr>
          </a:p>
        </p:txBody>
      </p:sp>
    </p:spTree>
    <p:extLst>
      <p:ext uri="{BB962C8B-B14F-4D97-AF65-F5344CB8AC3E}">
        <p14:creationId xmlns:p14="http://schemas.microsoft.com/office/powerpoint/2010/main" val="2820314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72B831-386E-4BBA-8E36-8BBFA2D181FE}"/>
              </a:ext>
            </a:extLst>
          </p:cNvPr>
          <p:cNvSpPr>
            <a:spLocks noGrp="1"/>
          </p:cNvSpPr>
          <p:nvPr>
            <p:ph type="title"/>
          </p:nvPr>
        </p:nvSpPr>
        <p:spPr>
          <a:xfrm>
            <a:off x="3417757" y="1"/>
            <a:ext cx="8774243" cy="1484025"/>
          </a:xfrm>
          <a:solidFill>
            <a:schemeClr val="accent1">
              <a:lumMod val="20000"/>
              <a:lumOff val="80000"/>
            </a:schemeClr>
          </a:solidFill>
        </p:spPr>
        <p:txBody>
          <a:bodyPr/>
          <a:lstStyle/>
          <a:p>
            <a:r>
              <a:rPr lang="fr-FR" dirty="0"/>
              <a:t>5) Stratégie de transformation digitale</a:t>
            </a:r>
          </a:p>
        </p:txBody>
      </p:sp>
      <p:pic>
        <p:nvPicPr>
          <p:cNvPr id="7" name="Espace réservé du contenu 6">
            <a:extLst>
              <a:ext uri="{FF2B5EF4-FFF2-40B4-BE49-F238E27FC236}">
                <a16:creationId xmlns:a16="http://schemas.microsoft.com/office/drawing/2014/main" id="{A7959E16-DF4E-4929-BA40-85013BA386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3417757" cy="6858001"/>
          </a:xfrm>
        </p:spPr>
      </p:pic>
      <p:sp>
        <p:nvSpPr>
          <p:cNvPr id="8" name="Rectangle 7">
            <a:extLst>
              <a:ext uri="{FF2B5EF4-FFF2-40B4-BE49-F238E27FC236}">
                <a16:creationId xmlns:a16="http://schemas.microsoft.com/office/drawing/2014/main" id="{54EA6FA8-F4EA-49C8-951D-92F3CF36BB47}"/>
              </a:ext>
            </a:extLst>
          </p:cNvPr>
          <p:cNvSpPr/>
          <p:nvPr/>
        </p:nvSpPr>
        <p:spPr>
          <a:xfrm>
            <a:off x="3417757" y="1484027"/>
            <a:ext cx="8774243" cy="537397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La stratégie repose sur une première étape clé :</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la création d’une page d’accueil professionnelle optimisée, servant de pilier digital à la marque.</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Cette page permettra de :</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officialiser la présence de LUXEORA en ligne,</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moderniser l’image de marque,</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guider le visiteur vers l’action,</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initier la collecte de données clients.</a:t>
            </a:r>
          </a:p>
          <a:p>
            <a:pPr algn="ctr"/>
            <a:endParaRPr lang="fr-FR"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0371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83DFCE-5DC7-4794-86FA-1D306C02B556}"/>
              </a:ext>
            </a:extLst>
          </p:cNvPr>
          <p:cNvSpPr>
            <a:spLocks noGrp="1"/>
          </p:cNvSpPr>
          <p:nvPr>
            <p:ph type="title"/>
          </p:nvPr>
        </p:nvSpPr>
        <p:spPr>
          <a:xfrm>
            <a:off x="5426440" y="0"/>
            <a:ext cx="6765560" cy="1325563"/>
          </a:xfrm>
          <a:solidFill>
            <a:schemeClr val="tx2">
              <a:lumMod val="60000"/>
              <a:lumOff val="40000"/>
            </a:schemeClr>
          </a:solidFill>
        </p:spPr>
        <p:txBody>
          <a:bodyPr/>
          <a:lstStyle/>
          <a:p>
            <a:r>
              <a:rPr lang="fr-FR" dirty="0"/>
              <a:t>6) Présentation de la solution web</a:t>
            </a:r>
          </a:p>
        </p:txBody>
      </p:sp>
      <p:pic>
        <p:nvPicPr>
          <p:cNvPr id="5" name="Espace réservé du contenu 4">
            <a:extLst>
              <a:ext uri="{FF2B5EF4-FFF2-40B4-BE49-F238E27FC236}">
                <a16:creationId xmlns:a16="http://schemas.microsoft.com/office/drawing/2014/main" id="{6F328672-2CCB-460E-8BC2-FAAE463039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426440" cy="6858000"/>
          </a:xfrm>
        </p:spPr>
      </p:pic>
      <p:sp>
        <p:nvSpPr>
          <p:cNvPr id="6" name="Rectangle 5">
            <a:extLst>
              <a:ext uri="{FF2B5EF4-FFF2-40B4-BE49-F238E27FC236}">
                <a16:creationId xmlns:a16="http://schemas.microsoft.com/office/drawing/2014/main" id="{2777A041-E686-4D9E-9DAD-C3356EBD09CA}"/>
              </a:ext>
            </a:extLst>
          </p:cNvPr>
          <p:cNvSpPr/>
          <p:nvPr/>
        </p:nvSpPr>
        <p:spPr>
          <a:xfrm>
            <a:off x="5426440" y="1325563"/>
            <a:ext cx="6765559" cy="5532437"/>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La solution proposée est une page d’accueil moderne, élégante et responsive, développée en HTML5 et CSS3, comprenant :</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une identité visuelle premium,</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un message marketing clair,</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une mise en avant des produits phares,</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des témoignages clients pour la crédibilité,</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des appels à l’action visibles,</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un formulaire d’inscription à la newsletter.</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a:lnSpc>
                <a:spcPct val="115000"/>
              </a:lnSpc>
              <a:spcAft>
                <a:spcPts val="800"/>
              </a:spcAft>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Objectif principal : transformer les visiteurs en prospects, puis en clients.</a:t>
            </a:r>
          </a:p>
          <a:p>
            <a:pPr algn="ctr"/>
            <a:endParaRPr lang="fr-FR"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5359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C5C158-A3BD-4221-93DF-124E957BD2B0}"/>
              </a:ext>
            </a:extLst>
          </p:cNvPr>
          <p:cNvSpPr>
            <a:spLocks noGrp="1"/>
          </p:cNvSpPr>
          <p:nvPr>
            <p:ph type="title"/>
          </p:nvPr>
        </p:nvSpPr>
        <p:spPr>
          <a:xfrm>
            <a:off x="959370" y="0"/>
            <a:ext cx="11232629" cy="1214203"/>
          </a:xfrm>
        </p:spPr>
        <p:txBody>
          <a:bodyPr/>
          <a:lstStyle/>
          <a:p>
            <a:r>
              <a:rPr lang="fr-FR" dirty="0"/>
              <a:t>7) Impact attendu sur le chiffre d’affaires</a:t>
            </a:r>
          </a:p>
        </p:txBody>
      </p:sp>
      <p:sp>
        <p:nvSpPr>
          <p:cNvPr id="4" name="Shape 2">
            <a:extLst>
              <a:ext uri="{FF2B5EF4-FFF2-40B4-BE49-F238E27FC236}">
                <a16:creationId xmlns:a16="http://schemas.microsoft.com/office/drawing/2014/main" id="{BFDFD651-85C7-4B36-B24B-D6F435E33839}"/>
              </a:ext>
            </a:extLst>
          </p:cNvPr>
          <p:cNvSpPr>
            <a:spLocks noGrp="1"/>
          </p:cNvSpPr>
          <p:nvPr>
            <p:ph idx="1"/>
          </p:nvPr>
        </p:nvSpPr>
        <p:spPr>
          <a:xfrm>
            <a:off x="959370" y="1214203"/>
            <a:ext cx="11232629" cy="5643796"/>
          </a:xfrm>
          <a:prstGeom prst="roundRect">
            <a:avLst>
              <a:gd name="adj" fmla="val 6906"/>
            </a:avLst>
          </a:prstGeom>
          <a:solidFill>
            <a:srgbClr val="123332"/>
          </a:solidFill>
          <a:ln w="22860">
            <a:solidFill>
              <a:srgbClr val="4A6B6A"/>
            </a:solidFill>
            <a:prstDash val="solid"/>
          </a:ln>
        </p:spPr>
        <p:txBody>
          <a:bodyPr/>
          <a:lstStyle/>
          <a:p>
            <a:pPr marL="0" indent="0">
              <a:lnSpc>
                <a:spcPct val="115000"/>
              </a:lnSpc>
              <a:spcAft>
                <a:spcPts val="800"/>
              </a:spcAft>
              <a:buNone/>
            </a:pPr>
            <a:endPar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15000"/>
              </a:lnSpc>
              <a:spcAft>
                <a:spcPts val="800"/>
              </a:spcAft>
              <a:buNone/>
            </a:pPr>
            <a:r>
              <a:rPr lang="fr-FR" sz="1800" kern="100" dirty="0">
                <a:solidFill>
                  <a:schemeClr val="accent2">
                    <a:lumMod val="40000"/>
                    <a:lumOff val="6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Grâce à cette transformation digitale, LUXEORA pourra :</a:t>
            </a:r>
          </a:p>
          <a:p>
            <a:pPr marL="0" indent="0">
              <a:lnSpc>
                <a:spcPct val="115000"/>
              </a:lnSpc>
              <a:spcAft>
                <a:spcPts val="800"/>
              </a:spcAft>
              <a:buNone/>
            </a:pPr>
            <a:r>
              <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augmenter sa visibilité en ligne,</a:t>
            </a:r>
          </a:p>
          <a:p>
            <a:pPr marL="0" indent="0">
              <a:lnSpc>
                <a:spcPct val="115000"/>
              </a:lnSpc>
              <a:spcAft>
                <a:spcPts val="800"/>
              </a:spcAft>
              <a:buNone/>
            </a:pPr>
            <a:r>
              <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attirer de nouveaux clients,</a:t>
            </a:r>
          </a:p>
          <a:p>
            <a:pPr marL="0" indent="0">
              <a:lnSpc>
                <a:spcPct val="115000"/>
              </a:lnSpc>
              <a:spcAft>
                <a:spcPts val="800"/>
              </a:spcAft>
              <a:buNone/>
            </a:pPr>
            <a:r>
              <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fidéliser sa clientèle existante,</a:t>
            </a:r>
          </a:p>
          <a:p>
            <a:pPr marL="0" indent="0">
              <a:lnSpc>
                <a:spcPct val="115000"/>
              </a:lnSpc>
              <a:spcAft>
                <a:spcPts val="800"/>
              </a:spcAft>
              <a:buNone/>
            </a:pPr>
            <a:r>
              <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réduire sa dépendance au trafic physique.</a:t>
            </a:r>
          </a:p>
          <a:p>
            <a:pPr marL="0" indent="0">
              <a:lnSpc>
                <a:spcPct val="115000"/>
              </a:lnSpc>
              <a:spcAft>
                <a:spcPts val="800"/>
              </a:spcAft>
              <a:buNone/>
            </a:pPr>
            <a:r>
              <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Impact estimé :</a:t>
            </a:r>
          </a:p>
          <a:p>
            <a:pPr marL="0" indent="0">
              <a:lnSpc>
                <a:spcPct val="115000"/>
              </a:lnSpc>
              <a:spcAft>
                <a:spcPts val="800"/>
              </a:spcAft>
              <a:buNone/>
            </a:pPr>
            <a:r>
              <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hausse progressive du nombre de clients,</a:t>
            </a:r>
          </a:p>
          <a:p>
            <a:pPr marL="0" indent="0">
              <a:lnSpc>
                <a:spcPct val="115000"/>
              </a:lnSpc>
              <a:spcAft>
                <a:spcPts val="800"/>
              </a:spcAft>
              <a:buNone/>
            </a:pPr>
            <a:r>
              <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amélioration du taux de conversion,</a:t>
            </a:r>
          </a:p>
          <a:p>
            <a:pPr marL="0" indent="0">
              <a:lnSpc>
                <a:spcPct val="115000"/>
              </a:lnSpc>
              <a:spcAft>
                <a:spcPts val="800"/>
              </a:spcAft>
              <a:buNone/>
            </a:pPr>
            <a:r>
              <a:rPr lang="fr-FR" sz="1800" kern="100" dirty="0">
                <a:solidFill>
                  <a:schemeClr val="accent2">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augmentation durable du chiffre d’affaires sur 12 mois.</a:t>
            </a:r>
          </a:p>
          <a:p>
            <a:endParaRPr lang="fr-FR" dirty="0">
              <a:solidFill>
                <a:schemeClr val="accent2">
                  <a:lumMod val="40000"/>
                  <a:lumOff val="6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4212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7A72FB-83AB-4B43-90C4-185678F0B88C}"/>
              </a:ext>
            </a:extLst>
          </p:cNvPr>
          <p:cNvSpPr>
            <a:spLocks noGrp="1"/>
          </p:cNvSpPr>
          <p:nvPr>
            <p:ph type="title"/>
          </p:nvPr>
        </p:nvSpPr>
        <p:spPr>
          <a:xfrm>
            <a:off x="1034320" y="365125"/>
            <a:ext cx="10319479" cy="1325563"/>
          </a:xfrm>
        </p:spPr>
        <p:txBody>
          <a:bodyPr/>
          <a:lstStyle/>
          <a:p>
            <a:r>
              <a:rPr lang="fr-FR" dirty="0"/>
              <a:t>8) Budget estimatif</a:t>
            </a:r>
          </a:p>
        </p:txBody>
      </p:sp>
      <p:graphicFrame>
        <p:nvGraphicFramePr>
          <p:cNvPr id="4" name="Tableau 4">
            <a:extLst>
              <a:ext uri="{FF2B5EF4-FFF2-40B4-BE49-F238E27FC236}">
                <a16:creationId xmlns:a16="http://schemas.microsoft.com/office/drawing/2014/main" id="{6CEAE796-114B-48D3-A325-DE7EBF8FF411}"/>
              </a:ext>
            </a:extLst>
          </p:cNvPr>
          <p:cNvGraphicFramePr>
            <a:graphicFrameLocks noGrp="1"/>
          </p:cNvGraphicFramePr>
          <p:nvPr>
            <p:ph idx="1"/>
            <p:extLst>
              <p:ext uri="{D42A27DB-BD31-4B8C-83A1-F6EECF244321}">
                <p14:modId xmlns:p14="http://schemas.microsoft.com/office/powerpoint/2010/main" val="4276158704"/>
              </p:ext>
            </p:extLst>
          </p:nvPr>
        </p:nvGraphicFramePr>
        <p:xfrm>
          <a:off x="1034320" y="1825623"/>
          <a:ext cx="10319480" cy="2866300"/>
        </p:xfrm>
        <a:graphic>
          <a:graphicData uri="http://schemas.openxmlformats.org/drawingml/2006/table">
            <a:tbl>
              <a:tblPr firstRow="1" bandRow="1">
                <a:tableStyleId>{5C22544A-7EE6-4342-B048-85BDC9FD1C3A}</a:tableStyleId>
              </a:tblPr>
              <a:tblGrid>
                <a:gridCol w="5159740">
                  <a:extLst>
                    <a:ext uri="{9D8B030D-6E8A-4147-A177-3AD203B41FA5}">
                      <a16:colId xmlns:a16="http://schemas.microsoft.com/office/drawing/2014/main" val="1206967091"/>
                    </a:ext>
                  </a:extLst>
                </a:gridCol>
                <a:gridCol w="5159740">
                  <a:extLst>
                    <a:ext uri="{9D8B030D-6E8A-4147-A177-3AD203B41FA5}">
                      <a16:colId xmlns:a16="http://schemas.microsoft.com/office/drawing/2014/main" val="67559749"/>
                    </a:ext>
                  </a:extLst>
                </a:gridCol>
              </a:tblGrid>
              <a:tr h="573260">
                <a:tc>
                  <a:txBody>
                    <a:bodyPr/>
                    <a:lstStyle/>
                    <a:p>
                      <a:pPr algn="ctr"/>
                      <a:r>
                        <a:rPr lang="fr-FR" dirty="0"/>
                        <a:t>Poste</a:t>
                      </a:r>
                    </a:p>
                  </a:txBody>
                  <a:tcPr/>
                </a:tc>
                <a:tc>
                  <a:txBody>
                    <a:bodyPr/>
                    <a:lstStyle/>
                    <a:p>
                      <a:pPr algn="ctr"/>
                      <a:r>
                        <a:rPr lang="fr-FR" dirty="0"/>
                        <a:t>Coût estimé </a:t>
                      </a:r>
                    </a:p>
                  </a:txBody>
                  <a:tcPr/>
                </a:tc>
                <a:extLst>
                  <a:ext uri="{0D108BD9-81ED-4DB2-BD59-A6C34878D82A}">
                    <a16:rowId xmlns:a16="http://schemas.microsoft.com/office/drawing/2014/main" val="1338014399"/>
                  </a:ext>
                </a:extLst>
              </a:tr>
              <a:tr h="573260">
                <a:tc>
                  <a:txBody>
                    <a:bodyPr/>
                    <a:lstStyle/>
                    <a:p>
                      <a:pPr algn="ctr"/>
                      <a:r>
                        <a:rPr lang="fr-FR" dirty="0"/>
                        <a:t>Conception du site web</a:t>
                      </a:r>
                    </a:p>
                  </a:txBody>
                  <a:tcPr/>
                </a:tc>
                <a:tc>
                  <a:txBody>
                    <a:bodyPr/>
                    <a:lstStyle/>
                    <a:p>
                      <a:pPr algn="ctr"/>
                      <a:r>
                        <a:rPr lang="fr-FR" dirty="0"/>
                        <a:t>Faible (technologie simple)</a:t>
                      </a:r>
                    </a:p>
                  </a:txBody>
                  <a:tcPr/>
                </a:tc>
                <a:extLst>
                  <a:ext uri="{0D108BD9-81ED-4DB2-BD59-A6C34878D82A}">
                    <a16:rowId xmlns:a16="http://schemas.microsoft.com/office/drawing/2014/main" val="2979308247"/>
                  </a:ext>
                </a:extLst>
              </a:tr>
              <a:tr h="573260">
                <a:tc>
                  <a:txBody>
                    <a:bodyPr/>
                    <a:lstStyle/>
                    <a:p>
                      <a:pPr algn="ctr"/>
                      <a:r>
                        <a:rPr lang="fr-FR" dirty="0"/>
                        <a:t>Design &amp; identité visuelle</a:t>
                      </a:r>
                    </a:p>
                  </a:txBody>
                  <a:tcPr/>
                </a:tc>
                <a:tc>
                  <a:txBody>
                    <a:bodyPr/>
                    <a:lstStyle/>
                    <a:p>
                      <a:pPr algn="ctr"/>
                      <a:r>
                        <a:rPr lang="fr-FR" dirty="0"/>
                        <a:t>Modéré</a:t>
                      </a:r>
                    </a:p>
                  </a:txBody>
                  <a:tcPr/>
                </a:tc>
                <a:extLst>
                  <a:ext uri="{0D108BD9-81ED-4DB2-BD59-A6C34878D82A}">
                    <a16:rowId xmlns:a16="http://schemas.microsoft.com/office/drawing/2014/main" val="1267455230"/>
                  </a:ext>
                </a:extLst>
              </a:tr>
              <a:tr h="573260">
                <a:tc>
                  <a:txBody>
                    <a:bodyPr/>
                    <a:lstStyle/>
                    <a:p>
                      <a:pPr algn="ctr"/>
                      <a:r>
                        <a:rPr lang="fr-FR" dirty="0"/>
                        <a:t>Hébergement &amp; maintenance</a:t>
                      </a:r>
                    </a:p>
                  </a:txBody>
                  <a:tcPr/>
                </a:tc>
                <a:tc>
                  <a:txBody>
                    <a:bodyPr/>
                    <a:lstStyle/>
                    <a:p>
                      <a:pPr algn="ctr"/>
                      <a:r>
                        <a:rPr lang="fr-FR" dirty="0"/>
                        <a:t>Faible </a:t>
                      </a:r>
                    </a:p>
                  </a:txBody>
                  <a:tcPr/>
                </a:tc>
                <a:extLst>
                  <a:ext uri="{0D108BD9-81ED-4DB2-BD59-A6C34878D82A}">
                    <a16:rowId xmlns:a16="http://schemas.microsoft.com/office/drawing/2014/main" val="2100499659"/>
                  </a:ext>
                </a:extLst>
              </a:tr>
              <a:tr h="573260">
                <a:tc>
                  <a:txBody>
                    <a:bodyPr/>
                    <a:lstStyle/>
                    <a:p>
                      <a:pPr algn="ctr"/>
                      <a:r>
                        <a:rPr lang="fr-FR" dirty="0"/>
                        <a:t>Communication digitale</a:t>
                      </a:r>
                    </a:p>
                  </a:txBody>
                  <a:tcPr/>
                </a:tc>
                <a:tc>
                  <a:txBody>
                    <a:bodyPr/>
                    <a:lstStyle/>
                    <a:p>
                      <a:pPr algn="ctr"/>
                      <a:r>
                        <a:rPr lang="fr-FR" dirty="0"/>
                        <a:t>Modéré</a:t>
                      </a:r>
                    </a:p>
                  </a:txBody>
                  <a:tcPr/>
                </a:tc>
                <a:extLst>
                  <a:ext uri="{0D108BD9-81ED-4DB2-BD59-A6C34878D82A}">
                    <a16:rowId xmlns:a16="http://schemas.microsoft.com/office/drawing/2014/main" val="1453576707"/>
                  </a:ext>
                </a:extLst>
              </a:tr>
            </a:tbl>
          </a:graphicData>
        </a:graphic>
      </p:graphicFrame>
      <p:sp>
        <p:nvSpPr>
          <p:cNvPr id="5" name="ZoneTexte 4">
            <a:extLst>
              <a:ext uri="{FF2B5EF4-FFF2-40B4-BE49-F238E27FC236}">
                <a16:creationId xmlns:a16="http://schemas.microsoft.com/office/drawing/2014/main" id="{E3F85AF7-0D25-4778-987E-47604EF088B8}"/>
              </a:ext>
            </a:extLst>
          </p:cNvPr>
          <p:cNvSpPr txBox="1"/>
          <p:nvPr/>
        </p:nvSpPr>
        <p:spPr>
          <a:xfrm>
            <a:off x="1034320" y="5156616"/>
            <a:ext cx="9743608" cy="1211614"/>
          </a:xfrm>
          <a:prstGeom prst="rect">
            <a:avLst/>
          </a:prstGeom>
          <a:noFill/>
        </p:spPr>
        <p:txBody>
          <a:bodyPr wrap="square" rtlCol="0">
            <a:spAutoFit/>
          </a:bodyPr>
          <a:lstStyle/>
          <a:p>
            <a:pPr>
              <a:lnSpc>
                <a:spcPct val="115000"/>
              </a:lnSpc>
              <a:spcAft>
                <a:spcPts val="800"/>
              </a:spcAft>
            </a:pPr>
            <a:r>
              <a:rPr lang="fr-FR" sz="1800" kern="100" dirty="0">
                <a:effectLst/>
                <a:latin typeface="Aptos"/>
                <a:ea typeface="Times New Roman" panose="02020603050405020304" pitchFamily="18" charset="0"/>
                <a:cs typeface="Times New Roman" panose="02020603050405020304" pitchFamily="18" charset="0"/>
              </a:rPr>
              <a:t> Avantage clé pour les investisseurs :</a:t>
            </a:r>
          </a:p>
          <a:p>
            <a:pPr>
              <a:lnSpc>
                <a:spcPct val="115000"/>
              </a:lnSpc>
              <a:spcAft>
                <a:spcPts val="800"/>
              </a:spcAft>
            </a:pPr>
            <a:r>
              <a:rPr lang="fr-FR" sz="1800" kern="100" dirty="0">
                <a:effectLst/>
                <a:latin typeface="Aptos"/>
                <a:ea typeface="Times New Roman" panose="02020603050405020304" pitchFamily="18" charset="0"/>
                <a:cs typeface="Times New Roman" panose="02020603050405020304" pitchFamily="18" charset="0"/>
              </a:rPr>
              <a:t> Fort potentiel de retour sur investissement avec un budget maîtrisé.</a:t>
            </a:r>
          </a:p>
          <a:p>
            <a:endParaRPr lang="fr-FR" dirty="0"/>
          </a:p>
        </p:txBody>
      </p:sp>
    </p:spTree>
    <p:extLst>
      <p:ext uri="{BB962C8B-B14F-4D97-AF65-F5344CB8AC3E}">
        <p14:creationId xmlns:p14="http://schemas.microsoft.com/office/powerpoint/2010/main" val="1098205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3F8725-9472-4FC6-8196-392EE73EFABD}"/>
              </a:ext>
            </a:extLst>
          </p:cNvPr>
          <p:cNvSpPr>
            <a:spLocks noGrp="1"/>
          </p:cNvSpPr>
          <p:nvPr>
            <p:ph type="title"/>
          </p:nvPr>
        </p:nvSpPr>
        <p:spPr>
          <a:xfrm>
            <a:off x="5141626" y="-1"/>
            <a:ext cx="7050373" cy="1349115"/>
          </a:xfrm>
        </p:spPr>
        <p:txBody>
          <a:bodyPr/>
          <a:lstStyle/>
          <a:p>
            <a:r>
              <a:rPr lang="fr-FR" dirty="0">
                <a:latin typeface="Times New Roman" panose="02020603050405020304" pitchFamily="18" charset="0"/>
                <a:cs typeface="Times New Roman" panose="02020603050405020304" pitchFamily="18" charset="0"/>
              </a:rPr>
              <a:t>9) Plan de déploiement</a:t>
            </a:r>
          </a:p>
        </p:txBody>
      </p:sp>
      <p:pic>
        <p:nvPicPr>
          <p:cNvPr id="5" name="Espace réservé du contenu 4">
            <a:extLst>
              <a:ext uri="{FF2B5EF4-FFF2-40B4-BE49-F238E27FC236}">
                <a16:creationId xmlns:a16="http://schemas.microsoft.com/office/drawing/2014/main" id="{6B52E1E1-1A73-4745-82B6-6676DE33D6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5141625" cy="6858000"/>
          </a:xfrm>
        </p:spPr>
      </p:pic>
      <p:sp>
        <p:nvSpPr>
          <p:cNvPr id="6" name="Rectangle 5">
            <a:extLst>
              <a:ext uri="{FF2B5EF4-FFF2-40B4-BE49-F238E27FC236}">
                <a16:creationId xmlns:a16="http://schemas.microsoft.com/office/drawing/2014/main" id="{2D73D2F3-9745-4058-AEA6-3B203BE0D4C9}"/>
              </a:ext>
            </a:extLst>
          </p:cNvPr>
          <p:cNvSpPr/>
          <p:nvPr/>
        </p:nvSpPr>
        <p:spPr>
          <a:xfrm>
            <a:off x="5141626" y="1514006"/>
            <a:ext cx="7050374" cy="534399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pPr>
            <a:r>
              <a:rPr lang="fr-FR" sz="22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1.Analyse des besoins et de l’identité de marque</a:t>
            </a:r>
          </a:p>
          <a:p>
            <a:pPr>
              <a:lnSpc>
                <a:spcPct val="115000"/>
              </a:lnSpc>
              <a:spcAft>
                <a:spcPts val="800"/>
              </a:spcAft>
            </a:pPr>
            <a:r>
              <a:rPr lang="fr-FR" sz="22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2. Conception du design et de la structure</a:t>
            </a:r>
          </a:p>
          <a:p>
            <a:pPr>
              <a:lnSpc>
                <a:spcPct val="115000"/>
              </a:lnSpc>
              <a:spcAft>
                <a:spcPts val="800"/>
              </a:spcAft>
            </a:pPr>
            <a:r>
              <a:rPr lang="fr-FR" sz="22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3. Développement de la page web</a:t>
            </a:r>
          </a:p>
          <a:p>
            <a:pPr>
              <a:lnSpc>
                <a:spcPct val="115000"/>
              </a:lnSpc>
              <a:spcAft>
                <a:spcPts val="800"/>
              </a:spcAft>
            </a:pPr>
            <a:r>
              <a:rPr lang="fr-FR" sz="22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 Mise en ligne officielle</a:t>
            </a:r>
          </a:p>
          <a:p>
            <a:pPr>
              <a:lnSpc>
                <a:spcPct val="115000"/>
              </a:lnSpc>
              <a:spcAft>
                <a:spcPts val="800"/>
              </a:spcAft>
            </a:pPr>
            <a:r>
              <a:rPr lang="fr-FR" sz="22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5. Communication autour du lancement</a:t>
            </a:r>
          </a:p>
          <a:p>
            <a:pPr>
              <a:lnSpc>
                <a:spcPct val="115000"/>
              </a:lnSpc>
              <a:spcAft>
                <a:spcPts val="800"/>
              </a:spcAft>
            </a:pPr>
            <a:r>
              <a:rPr lang="fr-FR" sz="22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6. Collecte et analyse des premiers résultats</a:t>
            </a:r>
          </a:p>
          <a:p>
            <a:endParaRPr lang="fr-FR"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5544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6781DB-DBC1-467A-9A8B-8A1D0F42808A}"/>
              </a:ext>
            </a:extLst>
          </p:cNvPr>
          <p:cNvSpPr>
            <a:spLocks noGrp="1"/>
          </p:cNvSpPr>
          <p:nvPr>
            <p:ph type="title"/>
          </p:nvPr>
        </p:nvSpPr>
        <p:spPr>
          <a:xfrm>
            <a:off x="4811842" y="18255"/>
            <a:ext cx="5906125" cy="1325563"/>
          </a:xfrm>
        </p:spPr>
        <p:txBody>
          <a:bodyPr/>
          <a:lstStyle/>
          <a:p>
            <a:r>
              <a:rPr lang="fr-FR" dirty="0"/>
              <a:t>10) </a:t>
            </a:r>
            <a:r>
              <a:rPr lang="fr-FR" sz="4400" kern="100" dirty="0">
                <a:effectLst/>
                <a:latin typeface="Times New Roman" panose="02020603050405020304" pitchFamily="18" charset="0"/>
                <a:ea typeface="Times New Roman" panose="02020603050405020304" pitchFamily="18" charset="0"/>
                <a:cs typeface="Times New Roman" panose="02020603050405020304" pitchFamily="18" charset="0"/>
              </a:rPr>
              <a:t>Projection à 12 mois</a:t>
            </a:r>
            <a:endParaRPr lang="fr-FR" dirty="0"/>
          </a:p>
        </p:txBody>
      </p:sp>
      <p:sp>
        <p:nvSpPr>
          <p:cNvPr id="3" name="Espace réservé du contenu 2">
            <a:extLst>
              <a:ext uri="{FF2B5EF4-FFF2-40B4-BE49-F238E27FC236}">
                <a16:creationId xmlns:a16="http://schemas.microsoft.com/office/drawing/2014/main" id="{BFF8DAA9-3512-4DE4-9272-1C374C1753DE}"/>
              </a:ext>
            </a:extLst>
          </p:cNvPr>
          <p:cNvSpPr>
            <a:spLocks noGrp="1"/>
          </p:cNvSpPr>
          <p:nvPr>
            <p:ph idx="1"/>
          </p:nvPr>
        </p:nvSpPr>
        <p:spPr>
          <a:xfrm>
            <a:off x="4961744" y="1825625"/>
            <a:ext cx="6392055" cy="4351338"/>
          </a:xfrm>
        </p:spPr>
        <p:txBody>
          <a:bodyPr>
            <a:normAutofit/>
          </a:bodyPr>
          <a:lstStyle/>
          <a:p>
            <a:pPr marL="0" indent="0">
              <a:lnSpc>
                <a:spcPct val="115000"/>
              </a:lnSpc>
              <a:spcAft>
                <a:spcPts val="800"/>
              </a:spcAft>
              <a:buNone/>
            </a:pPr>
            <a:endPar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15000"/>
              </a:lnSpc>
              <a:buFont typeface="Aptos"/>
              <a:buChar char="•"/>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Image de marque modernisée</a:t>
            </a:r>
          </a:p>
          <a:p>
            <a:pPr marL="342900" lvl="0" indent="-342900">
              <a:lnSpc>
                <a:spcPct val="115000"/>
              </a:lnSpc>
              <a:buFont typeface="Aptos"/>
              <a:buChar char="•"/>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Base de données clients active</a:t>
            </a:r>
          </a:p>
          <a:p>
            <a:pPr marL="342900" lvl="0" indent="-342900">
              <a:lnSpc>
                <a:spcPct val="115000"/>
              </a:lnSpc>
              <a:buFont typeface="Aptos"/>
              <a:buChar char="•"/>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Augmentation du trafic digital</a:t>
            </a:r>
          </a:p>
          <a:p>
            <a:pPr marL="342900" lvl="0" indent="-342900">
              <a:lnSpc>
                <a:spcPct val="115000"/>
              </a:lnSpc>
              <a:buFont typeface="Aptos"/>
              <a:buChar char="•"/>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Meilleure stabilité des ventes</a:t>
            </a:r>
          </a:p>
          <a:p>
            <a:pPr marL="342900" lvl="0" indent="-342900">
              <a:lnSpc>
                <a:spcPct val="115000"/>
              </a:lnSpc>
              <a:spcAft>
                <a:spcPts val="800"/>
              </a:spcAft>
              <a:buFont typeface="Aptos"/>
              <a:buChar char="•"/>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Base solide pour un futur site e-commerce</a:t>
            </a:r>
          </a:p>
          <a:p>
            <a:pPr marL="0" indent="0">
              <a:buNone/>
            </a:pPr>
            <a:endParaRPr lang="fr-FR" sz="2400" dirty="0">
              <a:latin typeface="Times New Roman" panose="02020603050405020304" pitchFamily="18" charset="0"/>
              <a:cs typeface="Times New Roman" panose="02020603050405020304" pitchFamily="18" charset="0"/>
            </a:endParaRPr>
          </a:p>
        </p:txBody>
      </p:sp>
      <p:pic>
        <p:nvPicPr>
          <p:cNvPr id="5" name="Image 4">
            <a:extLst>
              <a:ext uri="{FF2B5EF4-FFF2-40B4-BE49-F238E27FC236}">
                <a16:creationId xmlns:a16="http://schemas.microsoft.com/office/drawing/2014/main" id="{E7697052-86AF-43D6-ADC5-F1493E197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811842" cy="6858000"/>
          </a:xfrm>
          <a:prstGeom prst="rect">
            <a:avLst/>
          </a:prstGeom>
        </p:spPr>
      </p:pic>
    </p:spTree>
    <p:extLst>
      <p:ext uri="{BB962C8B-B14F-4D97-AF65-F5344CB8AC3E}">
        <p14:creationId xmlns:p14="http://schemas.microsoft.com/office/powerpoint/2010/main" val="1033386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D802FE-B88C-4E5B-97D6-5E2CCFBC7B6E}"/>
              </a:ext>
            </a:extLst>
          </p:cNvPr>
          <p:cNvSpPr>
            <a:spLocks noGrp="1"/>
          </p:cNvSpPr>
          <p:nvPr>
            <p:ph type="title"/>
          </p:nvPr>
        </p:nvSpPr>
        <p:spPr>
          <a:xfrm>
            <a:off x="1034320" y="365125"/>
            <a:ext cx="10319479" cy="1325563"/>
          </a:xfrm>
        </p:spPr>
        <p:txBody>
          <a:bodyPr/>
          <a:lstStyle/>
          <a:p>
            <a:r>
              <a:rPr lang="fr-FR" sz="4400" b="0" i="0" u="none" strike="noStrike" baseline="0" dirty="0">
                <a:latin typeface="CIDFont+F2"/>
              </a:rPr>
              <a:t>11) Conclusion stratégique et prise de décision</a:t>
            </a:r>
            <a:endParaRPr lang="fr-FR" dirty="0"/>
          </a:p>
        </p:txBody>
      </p:sp>
      <p:pic>
        <p:nvPicPr>
          <p:cNvPr id="5" name="Espace réservé du contenu 4">
            <a:extLst>
              <a:ext uri="{FF2B5EF4-FFF2-40B4-BE49-F238E27FC236}">
                <a16:creationId xmlns:a16="http://schemas.microsoft.com/office/drawing/2014/main" id="{08458766-2FA6-46CF-B6DC-EF5544997C88}"/>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43000" contrast="-42000"/>
                    </a14:imgEffect>
                  </a14:imgLayer>
                </a14:imgProps>
              </a:ext>
              <a:ext uri="{28A0092B-C50C-407E-A947-70E740481C1C}">
                <a14:useLocalDpi xmlns:a14="http://schemas.microsoft.com/office/drawing/2010/main" val="0"/>
              </a:ext>
            </a:extLst>
          </a:blip>
          <a:stretch>
            <a:fillRect/>
          </a:stretch>
        </p:blipFill>
        <p:spPr>
          <a:xfrm>
            <a:off x="0" y="0"/>
            <a:ext cx="12192000" cy="6858000"/>
          </a:xfrm>
        </p:spPr>
      </p:pic>
      <p:sp>
        <p:nvSpPr>
          <p:cNvPr id="6" name="ZoneTexte 5">
            <a:extLst>
              <a:ext uri="{FF2B5EF4-FFF2-40B4-BE49-F238E27FC236}">
                <a16:creationId xmlns:a16="http://schemas.microsoft.com/office/drawing/2014/main" id="{A9F0CEE9-3710-4A8E-B120-B7B1CC2A24D7}"/>
              </a:ext>
            </a:extLst>
          </p:cNvPr>
          <p:cNvSpPr txBox="1"/>
          <p:nvPr/>
        </p:nvSpPr>
        <p:spPr>
          <a:xfrm>
            <a:off x="309796" y="365125"/>
            <a:ext cx="11877207" cy="6950621"/>
          </a:xfrm>
          <a:prstGeom prst="rect">
            <a:avLst/>
          </a:prstGeom>
          <a:noFill/>
        </p:spPr>
        <p:txBody>
          <a:bodyPr wrap="square" rtlCol="0">
            <a:spAutoFit/>
          </a:bodyPr>
          <a:lstStyle/>
          <a:p>
            <a:r>
              <a:rPr lang="fr-FR" sz="2000" b="0" i="0" u="none" strike="noStrike" baseline="0" dirty="0">
                <a:latin typeface="CIDFont+F2"/>
              </a:rPr>
              <a:t>11) Conclusion stratégique et prise de décision</a:t>
            </a:r>
          </a:p>
          <a:p>
            <a:endParaRPr lang="fr-FR" sz="2000" dirty="0">
              <a:latin typeface="CIDFont+F2"/>
            </a:endParaRPr>
          </a:p>
          <a:p>
            <a:endParaRPr lang="fr-FR" sz="2000" dirty="0">
              <a:latin typeface="CIDFont+F2"/>
            </a:endParaRPr>
          </a:p>
          <a:p>
            <a:pPr>
              <a:lnSpc>
                <a:spcPct val="115000"/>
              </a:lnSpc>
              <a:spcAft>
                <a:spcPts val="800"/>
              </a:spcAft>
            </a:pPr>
            <a:r>
              <a:rPr lang="fr-FR" sz="2000" kern="100" dirty="0">
                <a:effectLst/>
                <a:latin typeface="Aptos"/>
                <a:ea typeface="Times New Roman" panose="02020603050405020304" pitchFamily="18" charset="0"/>
                <a:cs typeface="Times New Roman" panose="02020603050405020304" pitchFamily="18" charset="0"/>
              </a:rPr>
              <a:t>La transformation digitale de LUXEORA n’est pas un luxe, mais une nécessité stratégique.</a:t>
            </a:r>
          </a:p>
          <a:p>
            <a:pPr>
              <a:lnSpc>
                <a:spcPct val="115000"/>
              </a:lnSpc>
              <a:spcAft>
                <a:spcPts val="800"/>
              </a:spcAft>
            </a:pPr>
            <a:r>
              <a:rPr lang="fr-FR" sz="2000" kern="100" dirty="0">
                <a:effectLst/>
                <a:latin typeface="Aptos"/>
                <a:ea typeface="Times New Roman" panose="02020603050405020304" pitchFamily="18" charset="0"/>
                <a:cs typeface="Times New Roman" panose="02020603050405020304" pitchFamily="18" charset="0"/>
              </a:rPr>
              <a:t>Le projet proposé :</a:t>
            </a:r>
          </a:p>
          <a:p>
            <a:pPr marL="342900" lvl="0" indent="-342900">
              <a:lnSpc>
                <a:spcPct val="115000"/>
              </a:lnSpc>
              <a:buFont typeface="Aptos"/>
              <a:buChar char="•"/>
            </a:pPr>
            <a:r>
              <a:rPr lang="fr-FR" sz="2000" kern="100" dirty="0">
                <a:effectLst/>
                <a:latin typeface="Aptos"/>
                <a:ea typeface="Times New Roman" panose="02020603050405020304" pitchFamily="18" charset="0"/>
                <a:cs typeface="Times New Roman" panose="02020603050405020304" pitchFamily="18" charset="0"/>
              </a:rPr>
              <a:t>Est réaliste,</a:t>
            </a:r>
          </a:p>
          <a:p>
            <a:pPr marL="342900" lvl="0" indent="-342900">
              <a:lnSpc>
                <a:spcPct val="115000"/>
              </a:lnSpc>
              <a:buFont typeface="Aptos"/>
              <a:buChar char="•"/>
            </a:pPr>
            <a:r>
              <a:rPr lang="fr-FR" sz="2000" kern="100" dirty="0">
                <a:effectLst/>
                <a:latin typeface="Aptos"/>
                <a:ea typeface="Times New Roman" panose="02020603050405020304" pitchFamily="18" charset="0"/>
                <a:cs typeface="Times New Roman" panose="02020603050405020304" pitchFamily="18" charset="0"/>
              </a:rPr>
              <a:t>Peu coûteux,</a:t>
            </a:r>
          </a:p>
          <a:p>
            <a:pPr marL="342900" lvl="0" indent="-342900">
              <a:lnSpc>
                <a:spcPct val="115000"/>
              </a:lnSpc>
              <a:buFont typeface="Aptos"/>
              <a:buChar char="•"/>
            </a:pPr>
            <a:r>
              <a:rPr lang="fr-FR" sz="2000" kern="100" dirty="0">
                <a:effectLst/>
                <a:latin typeface="Aptos"/>
                <a:ea typeface="Times New Roman" panose="02020603050405020304" pitchFamily="18" charset="0"/>
                <a:cs typeface="Times New Roman" panose="02020603050405020304" pitchFamily="18" charset="0"/>
              </a:rPr>
              <a:t>Scalable,</a:t>
            </a:r>
          </a:p>
          <a:p>
            <a:pPr marL="342900" lvl="0" indent="-342900">
              <a:lnSpc>
                <a:spcPct val="115000"/>
              </a:lnSpc>
              <a:spcAft>
                <a:spcPts val="800"/>
              </a:spcAft>
              <a:buFont typeface="Aptos"/>
              <a:buChar char="•"/>
            </a:pPr>
            <a:r>
              <a:rPr lang="fr-FR" sz="2000" kern="100" dirty="0">
                <a:effectLst/>
                <a:latin typeface="Aptos"/>
                <a:ea typeface="Times New Roman" panose="02020603050405020304" pitchFamily="18" charset="0"/>
                <a:cs typeface="Times New Roman" panose="02020603050405020304" pitchFamily="18" charset="0"/>
              </a:rPr>
              <a:t>Et orienté résultats.</a:t>
            </a:r>
          </a:p>
          <a:p>
            <a:pPr lvl="0">
              <a:lnSpc>
                <a:spcPct val="115000"/>
              </a:lnSpc>
              <a:spcAft>
                <a:spcPts val="800"/>
              </a:spcAft>
            </a:pPr>
            <a:endParaRPr lang="fr-FR" sz="2000" kern="100" dirty="0">
              <a:effectLst/>
              <a:latin typeface="Aptos"/>
              <a:ea typeface="Times New Roman" panose="02020603050405020304" pitchFamily="18" charset="0"/>
              <a:cs typeface="Times New Roman" panose="02020603050405020304" pitchFamily="18" charset="0"/>
            </a:endParaRPr>
          </a:p>
          <a:p>
            <a:pPr marL="342900" lvl="0" indent="-342900">
              <a:lnSpc>
                <a:spcPct val="115000"/>
              </a:lnSpc>
              <a:spcAft>
                <a:spcPts val="800"/>
              </a:spcAft>
              <a:buFont typeface="Aptos"/>
              <a:buChar char="•"/>
            </a:pPr>
            <a:endParaRPr lang="fr-FR" sz="2000" kern="100" dirty="0">
              <a:effectLst/>
              <a:latin typeface="Aptos"/>
              <a:ea typeface="Times New Roman" panose="02020603050405020304" pitchFamily="18" charset="0"/>
              <a:cs typeface="Times New Roman" panose="02020603050405020304" pitchFamily="18" charset="0"/>
            </a:endParaRPr>
          </a:p>
          <a:p>
            <a:pPr>
              <a:lnSpc>
                <a:spcPct val="115000"/>
              </a:lnSpc>
              <a:spcAft>
                <a:spcPts val="800"/>
              </a:spcAft>
            </a:pPr>
            <a:r>
              <a:rPr lang="fr-FR" sz="2000" kern="100" dirty="0">
                <a:effectLst/>
                <a:latin typeface="Aptos"/>
                <a:ea typeface="Times New Roman" panose="02020603050405020304" pitchFamily="18" charset="0"/>
                <a:cs typeface="Times New Roman" panose="02020603050405020304" pitchFamily="18" charset="0"/>
              </a:rPr>
              <a:t> Investir dans LUXEORA aujourd’hui, c’est investir dans une marque premium prête à évoluer avec son marché.</a:t>
            </a:r>
          </a:p>
          <a:p>
            <a:pPr>
              <a:lnSpc>
                <a:spcPct val="115000"/>
              </a:lnSpc>
              <a:spcAft>
                <a:spcPts val="800"/>
              </a:spcAft>
            </a:pPr>
            <a:r>
              <a:rPr lang="fr-FR" sz="2000" kern="100" dirty="0">
                <a:effectLst/>
                <a:latin typeface="Aptos"/>
                <a:ea typeface="Times New Roman" panose="02020603050405020304" pitchFamily="18" charset="0"/>
                <a:cs typeface="Times New Roman" panose="02020603050405020304" pitchFamily="18" charset="0"/>
              </a:rPr>
              <a:t> </a:t>
            </a:r>
          </a:p>
          <a:p>
            <a:pPr>
              <a:lnSpc>
                <a:spcPct val="115000"/>
              </a:lnSpc>
              <a:spcAft>
                <a:spcPts val="800"/>
              </a:spcAft>
            </a:pPr>
            <a:r>
              <a:rPr lang="fr-FR" sz="2000" kern="100" dirty="0">
                <a:effectLst/>
                <a:latin typeface="Aptos"/>
                <a:ea typeface="Times New Roman" panose="02020603050405020304" pitchFamily="18" charset="0"/>
                <a:cs typeface="Times New Roman" panose="02020603050405020304" pitchFamily="18" charset="0"/>
              </a:rPr>
              <a:t> </a:t>
            </a:r>
            <a:r>
              <a:rPr lang="fr-FR" sz="2000" kern="100" dirty="0" err="1">
                <a:effectLst/>
                <a:latin typeface="Aptos"/>
                <a:ea typeface="Times New Roman" panose="02020603050405020304" pitchFamily="18" charset="0"/>
                <a:cs typeface="Times New Roman" panose="02020603050405020304" pitchFamily="18" charset="0"/>
              </a:rPr>
              <a:t>Punchline</a:t>
            </a:r>
            <a:r>
              <a:rPr lang="fr-FR" sz="2000" kern="100" dirty="0">
                <a:effectLst/>
                <a:latin typeface="Aptos"/>
                <a:ea typeface="Times New Roman" panose="02020603050405020304" pitchFamily="18" charset="0"/>
                <a:cs typeface="Times New Roman" panose="02020603050405020304" pitchFamily="18" charset="0"/>
              </a:rPr>
              <a:t> investisseurs</a:t>
            </a:r>
          </a:p>
          <a:p>
            <a:pPr>
              <a:lnSpc>
                <a:spcPct val="115000"/>
              </a:lnSpc>
              <a:spcAft>
                <a:spcPts val="800"/>
              </a:spcAft>
            </a:pPr>
            <a:r>
              <a:rPr lang="fr-FR" sz="2000" kern="100" dirty="0">
                <a:effectLst/>
                <a:latin typeface="Aptos"/>
                <a:ea typeface="Times New Roman" panose="02020603050405020304" pitchFamily="18" charset="0"/>
                <a:cs typeface="Times New Roman" panose="02020603050405020304" pitchFamily="18" charset="0"/>
              </a:rPr>
              <a:t> </a:t>
            </a:r>
          </a:p>
          <a:p>
            <a:pPr>
              <a:lnSpc>
                <a:spcPct val="115000"/>
              </a:lnSpc>
              <a:spcAft>
                <a:spcPts val="800"/>
              </a:spcAft>
            </a:pPr>
            <a:r>
              <a:rPr lang="fr-FR" sz="2000" kern="100" dirty="0">
                <a:effectLst/>
                <a:latin typeface="Aptos"/>
                <a:ea typeface="Times New Roman" panose="02020603050405020304" pitchFamily="18" charset="0"/>
                <a:cs typeface="Times New Roman" panose="02020603050405020304" pitchFamily="18" charset="0"/>
              </a:rPr>
              <a:t>“LUXEORA possède déjà le produit. Ce projet lui apporte enfin le canal de croissance.”</a:t>
            </a:r>
          </a:p>
          <a:p>
            <a:endParaRPr lang="fr-FR" sz="2000" dirty="0"/>
          </a:p>
        </p:txBody>
      </p:sp>
    </p:spTree>
    <p:extLst>
      <p:ext uri="{BB962C8B-B14F-4D97-AF65-F5344CB8AC3E}">
        <p14:creationId xmlns:p14="http://schemas.microsoft.com/office/powerpoint/2010/main" val="236770834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1196</Words>
  <Application>Microsoft Office PowerPoint</Application>
  <PresentationFormat>Grand écran</PresentationFormat>
  <Paragraphs>135</Paragraphs>
  <Slides>13</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13</vt:i4>
      </vt:variant>
    </vt:vector>
  </HeadingPairs>
  <TitlesOfParts>
    <vt:vector size="21" baseType="lpstr">
      <vt:lpstr>Aptos</vt:lpstr>
      <vt:lpstr>Arial</vt:lpstr>
      <vt:lpstr>Calibri</vt:lpstr>
      <vt:lpstr>Calibri Light</vt:lpstr>
      <vt:lpstr>CIDFont+F2</vt:lpstr>
      <vt:lpstr>Segoe UI Emoji</vt:lpstr>
      <vt:lpstr>Times New Roman</vt:lpstr>
      <vt:lpstr>Thème Office</vt:lpstr>
      <vt:lpstr>Accueil</vt:lpstr>
      <vt:lpstr>INTRODUCTION</vt:lpstr>
      <vt:lpstr>1) Présentation de l’entreprise et du contexte</vt:lpstr>
      <vt:lpstr>2) Analyse du marché et de la concurrence </vt:lpstr>
      <vt:lpstr>3) Identification des probèmes </vt:lpstr>
      <vt:lpstr>4) Analyse SWOT</vt:lpstr>
      <vt:lpstr>5) Stratégie de transformation digitale</vt:lpstr>
      <vt:lpstr>6) Présentation de la solution web</vt:lpstr>
      <vt:lpstr>7) Impact attendu sur le chiffre d’affaires</vt:lpstr>
      <vt:lpstr>8) Budget estimatif</vt:lpstr>
      <vt:lpstr>9) Plan de déploiement</vt:lpstr>
      <vt:lpstr>10) Projection à 12 mois</vt:lpstr>
      <vt:lpstr>11) Conclusion stratégique et prise de décision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Accueil</dc:title>
  <dc:creator>Prince Freddy</dc:creator>
  <cp:lastModifiedBy>Prince Freddy</cp:lastModifiedBy>
  <cp:revision>16</cp:revision>
  <dcterms:created xsi:type="dcterms:W3CDTF">2026-02-28T07:12:29Z</dcterms:created>
  <dcterms:modified xsi:type="dcterms:W3CDTF">2026-02-28T19:32:22Z</dcterms:modified>
</cp:coreProperties>
</file>